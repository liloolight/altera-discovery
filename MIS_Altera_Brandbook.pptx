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slides/bg_cov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34085" y="1001241"/>
            <a:ext cx="1775799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spc="203" kern="0" dirty="0">
                <a:solidFill>
                  <a:srgbClr val="F5EFE6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BRAND BOOK · 2026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3932523" y="1337667"/>
            <a:ext cx="1278731" cy="1278731"/>
          </a:xfrm>
          <a:prstGeom prst="ellipse">
            <a:avLst/>
          </a:prstGeom>
          <a:solidFill>
            <a:srgbClr val="FFFFFF">
              <a:alpha val="18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074683" y="1479828"/>
            <a:ext cx="994410" cy="994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5ECEC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4800" dirty="0"/>
          </a:p>
        </p:txBody>
      </p:sp>
      <p:sp>
        <p:nvSpPr>
          <p:cNvPr id="7" name="Text 3"/>
          <p:cNvSpPr/>
          <p:nvPr/>
        </p:nvSpPr>
        <p:spPr>
          <a:xfrm>
            <a:off x="3832622" y="2748558"/>
            <a:ext cx="2217967" cy="33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spc="630" kern="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АЛЬТЕРА</a:t>
            </a:r>
            <a:endParaRPr lang="en-US" sz="1575" dirty="0"/>
          </a:p>
        </p:txBody>
      </p:sp>
      <p:sp>
        <p:nvSpPr>
          <p:cNvPr id="8" name="Text 4"/>
          <p:cNvSpPr/>
          <p:nvPr/>
        </p:nvSpPr>
        <p:spPr>
          <a:xfrm>
            <a:off x="274320" y="3258555"/>
            <a:ext cx="8595248" cy="475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65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МИС Альтера. Бренд-бук.</a:t>
            </a:r>
            <a:endParaRPr lang="en-US" sz="3150" dirty="0"/>
          </a:p>
        </p:txBody>
      </p:sp>
      <p:sp>
        <p:nvSpPr>
          <p:cNvPr id="9" name="Text 5"/>
          <p:cNvSpPr/>
          <p:nvPr/>
        </p:nvSpPr>
        <p:spPr>
          <a:xfrm>
            <a:off x="3205075" y="3898590"/>
            <a:ext cx="2733851" cy="263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18"/>
              </a:lnSpc>
              <a:buNone/>
            </a:pPr>
            <a:r>
              <a:rPr lang="en-US" sz="1238" i="1" dirty="0">
                <a:solidFill>
                  <a:srgbClr val="F5EFE6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Технологии, которые заботятся.</a:t>
            </a:r>
            <a:endParaRPr lang="en-US" sz="1238" dirty="0"/>
          </a:p>
        </p:txBody>
      </p:sp>
      <p:sp>
        <p:nvSpPr>
          <p:cNvPr id="10" name="Text 6"/>
          <p:cNvSpPr/>
          <p:nvPr/>
        </p:nvSpPr>
        <p:spPr>
          <a:xfrm>
            <a:off x="4286250" y="4503465"/>
            <a:ext cx="571500" cy="7144"/>
          </a:xfrm>
          <a:prstGeom prst="rect">
            <a:avLst/>
          </a:prstGeom>
          <a:solidFill>
            <a:srgbClr val="5ECEC1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3486277" y="4610621"/>
            <a:ext cx="2171335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spc="135" kern="0" dirty="0">
                <a:solidFill>
                  <a:srgbClr val="F5EFE6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ОТДЕЛ ДИЗАЙНА И МАРКЕТИНГА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7572375" y="3714750"/>
            <a:ext cx="2286000" cy="228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72375" y="3714750"/>
            <a:ext cx="2286000" cy="228600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463799"/>
            <a:ext cx="4708338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61" kern="0" dirty="0">
                <a:solidFill>
                  <a:srgbClr val="46B0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— ФИЛОСОФИЯ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" y="1736266"/>
            <a:ext cx="3600450" cy="373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dirty="0">
                <a:solidFill>
                  <a:srgbClr val="1A1F2E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Идеология бренда.</a:t>
            </a:r>
            <a:endParaRPr lang="en-US" sz="2475" dirty="0"/>
          </a:p>
        </p:txBody>
      </p:sp>
      <p:sp>
        <p:nvSpPr>
          <p:cNvPr id="6" name="Text 3"/>
          <p:cNvSpPr/>
          <p:nvPr/>
        </p:nvSpPr>
        <p:spPr>
          <a:xfrm>
            <a:off x="457200" y="2224832"/>
            <a:ext cx="342900" cy="7144"/>
          </a:xfrm>
          <a:prstGeom prst="rect">
            <a:avLst/>
          </a:prstGeom>
          <a:solidFill>
            <a:srgbClr val="5ECE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57200" y="2403425"/>
            <a:ext cx="3429000" cy="78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Медицинская Информационная Система должна быть не просто инструментом, а надёжным и спокойным помощником. Доверие к системе строится через прозрачность и интуитивность.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3334792"/>
            <a:ext cx="4488936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10" kern="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КЛЮЧЕВЫЕ СЛОВА: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3551595"/>
            <a:ext cx="642156" cy="255208"/>
          </a:xfrm>
          <a:prstGeom prst="roundRect">
            <a:avLst>
              <a:gd name="adj" fmla="val 3728518"/>
            </a:avLst>
          </a:prstGeom>
          <a:solidFill>
            <a:srgbClr val="5ECEC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57200" y="3564396"/>
            <a:ext cx="642156" cy="229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6B0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Медицина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56506" y="3551595"/>
            <a:ext cx="503746" cy="255208"/>
          </a:xfrm>
          <a:prstGeom prst="roundRect">
            <a:avLst>
              <a:gd name="adj" fmla="val 3728518"/>
            </a:avLst>
          </a:prstGeom>
          <a:solidFill>
            <a:srgbClr val="5ECEC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156506" y="3564396"/>
            <a:ext cx="503746" cy="229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6B0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Забота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717402" y="3551595"/>
            <a:ext cx="691493" cy="255208"/>
          </a:xfrm>
          <a:prstGeom prst="roundRect">
            <a:avLst>
              <a:gd name="adj" fmla="val 3728518"/>
            </a:avLst>
          </a:prstGeom>
          <a:solidFill>
            <a:srgbClr val="5ECEC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717402" y="3564396"/>
            <a:ext cx="691493" cy="229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6B0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Технология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466045" y="3551595"/>
            <a:ext cx="553864" cy="255208"/>
          </a:xfrm>
          <a:prstGeom prst="roundRect">
            <a:avLst>
              <a:gd name="adj" fmla="val 3728518"/>
            </a:avLst>
          </a:prstGeom>
          <a:solidFill>
            <a:srgbClr val="5ECEC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466045" y="3564396"/>
            <a:ext cx="553864" cy="229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6B0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Ясность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077059" y="3551595"/>
            <a:ext cx="570830" cy="255208"/>
          </a:xfrm>
          <a:prstGeom prst="roundRect">
            <a:avLst>
              <a:gd name="adj" fmla="val 3728518"/>
            </a:avLst>
          </a:prstGeom>
          <a:solidFill>
            <a:srgbClr val="5ECEC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077059" y="3564396"/>
            <a:ext cx="570830" cy="229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6B0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Доверие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343400" y="1387004"/>
            <a:ext cx="4560570" cy="189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238" dirty="0">
                <a:solidFill>
                  <a:srgbClr val="1A1F2E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Характер бренда</a:t>
            </a:r>
            <a:endParaRPr lang="en-US" sz="1238" dirty="0"/>
          </a:p>
        </p:txBody>
      </p:sp>
      <p:sp>
        <p:nvSpPr>
          <p:cNvPr id="20" name="Text 17"/>
          <p:cNvSpPr/>
          <p:nvPr/>
        </p:nvSpPr>
        <p:spPr>
          <a:xfrm>
            <a:off x="4343400" y="1705794"/>
            <a:ext cx="2114550" cy="1025351"/>
          </a:xfrm>
          <a:prstGeom prst="roundRect">
            <a:avLst>
              <a:gd name="adj" fmla="val 22295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90500" dist="107763" dir="2700000">
              <a:srgbClr val="AEB8C8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514850" y="1862956"/>
            <a:ext cx="285750" cy="285750"/>
          </a:xfrm>
          <a:prstGeom prst="ellipse">
            <a:avLst/>
          </a:prstGeom>
          <a:solidFill>
            <a:srgbClr val="5ECEC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543782" y="189188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46B0A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547" dirty="0"/>
          </a:p>
        </p:txBody>
      </p:sp>
      <p:sp>
        <p:nvSpPr>
          <p:cNvPr id="23" name="Text 20"/>
          <p:cNvSpPr/>
          <p:nvPr/>
        </p:nvSpPr>
        <p:spPr>
          <a:xfrm>
            <a:off x="4900613" y="1862956"/>
            <a:ext cx="1385888" cy="279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44" dirty="0">
                <a:solidFill>
                  <a:srgbClr val="1A1F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Дружелюбный, но без панибратства</a:t>
            </a:r>
            <a:endParaRPr lang="en-US" sz="844" dirty="0"/>
          </a:p>
        </p:txBody>
      </p:sp>
      <p:sp>
        <p:nvSpPr>
          <p:cNvPr id="24" name="Text 21"/>
          <p:cNvSpPr/>
          <p:nvPr/>
        </p:nvSpPr>
        <p:spPr>
          <a:xfrm>
            <a:off x="4900613" y="2170137"/>
            <a:ext cx="1469041" cy="403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Тёплый тон общения, сохраняющий профессиональную дистанцию.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572250" y="1705794"/>
            <a:ext cx="2114550" cy="1025351"/>
          </a:xfrm>
          <a:prstGeom prst="roundRect">
            <a:avLst>
              <a:gd name="adj" fmla="val 22295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90500" dist="107763" dir="2700000">
              <a:srgbClr val="AEB8C8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743700" y="1862956"/>
            <a:ext cx="285750" cy="285750"/>
          </a:xfrm>
          <a:prstGeom prst="ellipse">
            <a:avLst/>
          </a:prstGeom>
          <a:solidFill>
            <a:srgbClr val="5ECEC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772632" y="189188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46B0A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28" name="Text 25"/>
          <p:cNvSpPr/>
          <p:nvPr/>
        </p:nvSpPr>
        <p:spPr>
          <a:xfrm>
            <a:off x="7129463" y="1862956"/>
            <a:ext cx="1385888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44" dirty="0">
                <a:solidFill>
                  <a:srgbClr val="1A1F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Экспертный</a:t>
            </a:r>
            <a:endParaRPr lang="en-US" sz="844" dirty="0"/>
          </a:p>
        </p:txBody>
      </p:sp>
      <p:sp>
        <p:nvSpPr>
          <p:cNvPr id="29" name="Text 26"/>
          <p:cNvSpPr/>
          <p:nvPr/>
        </p:nvSpPr>
        <p:spPr>
          <a:xfrm>
            <a:off x="7129463" y="2030834"/>
            <a:ext cx="1469041" cy="477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Уважение к профессионализму врача в каждой детали интерфейса.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343400" y="2845445"/>
            <a:ext cx="2114550" cy="1025351"/>
          </a:xfrm>
          <a:prstGeom prst="roundRect">
            <a:avLst>
              <a:gd name="adj" fmla="val 22295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90500" dist="107763" dir="2700000">
              <a:srgbClr val="AEB8C8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514850" y="3002607"/>
            <a:ext cx="285750" cy="285750"/>
          </a:xfrm>
          <a:prstGeom prst="ellipse">
            <a:avLst/>
          </a:prstGeom>
          <a:solidFill>
            <a:srgbClr val="5ECEC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4543782" y="303154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46B0A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33" name="Text 30"/>
          <p:cNvSpPr/>
          <p:nvPr/>
        </p:nvSpPr>
        <p:spPr>
          <a:xfrm>
            <a:off x="4900613" y="3002607"/>
            <a:ext cx="1385888" cy="279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44" dirty="0">
                <a:solidFill>
                  <a:srgbClr val="1A1F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Современный и технологичный</a:t>
            </a:r>
            <a:endParaRPr lang="en-US" sz="844" dirty="0"/>
          </a:p>
        </p:txBody>
      </p:sp>
      <p:sp>
        <p:nvSpPr>
          <p:cNvPr id="34" name="Text 31"/>
          <p:cNvSpPr/>
          <p:nvPr/>
        </p:nvSpPr>
        <p:spPr>
          <a:xfrm>
            <a:off x="4900613" y="3309789"/>
            <a:ext cx="1469041" cy="403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Скрывает сложность за простым и предсказуемым интерфейсом.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572250" y="2845445"/>
            <a:ext cx="2114550" cy="1025351"/>
          </a:xfrm>
          <a:prstGeom prst="roundRect">
            <a:avLst>
              <a:gd name="adj" fmla="val 22295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90500" dist="107763" dir="2700000">
              <a:srgbClr val="AEB8C8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6743700" y="3002607"/>
            <a:ext cx="285750" cy="285750"/>
          </a:xfrm>
          <a:prstGeom prst="ellipse">
            <a:avLst/>
          </a:prstGeom>
          <a:solidFill>
            <a:srgbClr val="5ECEC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6772632" y="303154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46B0A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38" name="Text 35"/>
          <p:cNvSpPr/>
          <p:nvPr/>
        </p:nvSpPr>
        <p:spPr>
          <a:xfrm>
            <a:off x="7129463" y="3002607"/>
            <a:ext cx="1385888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44" dirty="0">
                <a:solidFill>
                  <a:srgbClr val="1A1F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Спокойный</a:t>
            </a:r>
            <a:endParaRPr lang="en-US" sz="844" dirty="0"/>
          </a:p>
        </p:txBody>
      </p:sp>
      <p:sp>
        <p:nvSpPr>
          <p:cNvPr id="39" name="Text 36"/>
          <p:cNvSpPr/>
          <p:nvPr/>
        </p:nvSpPr>
        <p:spPr>
          <a:xfrm>
            <a:off x="7129463" y="3170486"/>
            <a:ext cx="1469041" cy="31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Снижает уровень стресса при длительной работе в системе.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257175" y="200025"/>
            <a:ext cx="125777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32" kern="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МИС АЛЬТЕРА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8508095" y="4799595"/>
            <a:ext cx="542768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59" kern="0" dirty="0">
                <a:solidFill>
                  <a:srgbClr val="8B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7858125" y="-571500"/>
            <a:ext cx="1714500" cy="1714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58125" y="-571500"/>
            <a:ext cx="1714500" cy="171450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400050"/>
            <a:ext cx="86360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61" kern="0" dirty="0">
                <a:solidFill>
                  <a:srgbClr val="46B0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— ФИРМЕННЫЙ ЗНАК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" y="643942"/>
            <a:ext cx="8636000" cy="33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dirty="0">
                <a:solidFill>
                  <a:srgbClr val="1A1F2E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Логотип: Символ целостности.</a:t>
            </a:r>
            <a:endParaRPr lang="en-US" sz="2138" dirty="0"/>
          </a:p>
        </p:txBody>
      </p:sp>
      <p:sp>
        <p:nvSpPr>
          <p:cNvPr id="6" name="Text 3"/>
          <p:cNvSpPr/>
          <p:nvPr/>
        </p:nvSpPr>
        <p:spPr>
          <a:xfrm>
            <a:off x="457200" y="1041760"/>
            <a:ext cx="5572125" cy="53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Логотип представляет собой сферический знак с тремя диагональными изогнутыми линиями. Метафора: земной шар, круговорот данных, непрерывное взаимодействие между пациентом, врачом и системой. Линии динамичны, но сбалансированы — спокойствие и уверенность.</a:t>
            </a:r>
            <a:endParaRPr lang="en-US" sz="844" dirty="0"/>
          </a:p>
        </p:txBody>
      </p:sp>
      <p:sp>
        <p:nvSpPr>
          <p:cNvPr id="7" name="Text 4"/>
          <p:cNvSpPr/>
          <p:nvPr/>
        </p:nvSpPr>
        <p:spPr>
          <a:xfrm>
            <a:off x="457200" y="1768636"/>
            <a:ext cx="3600450" cy="2571750"/>
          </a:xfrm>
          <a:prstGeom prst="roundRect">
            <a:avLst>
              <a:gd name="adj" fmla="val 8889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90500" dist="107763" dir="2700000">
              <a:srgbClr val="AEB8C8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543050" y="2207754"/>
            <a:ext cx="1428750" cy="1428750"/>
          </a:xfrm>
          <a:prstGeom prst="ellipse">
            <a:avLst/>
          </a:prstGeom>
          <a:solidFill>
            <a:srgbClr val="5ECEC1"/>
          </a:solidFill>
          <a:ln/>
          <a:effectLst>
            <a:outerShdw sx="100000" sy="100000" kx="0" ky="0" algn="bl" rotWithShape="0" blurRad="304800" dist="114300" dir="5400000">
              <a:srgbClr val="5ECEC1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687711" y="2352415"/>
            <a:ext cx="1139428" cy="11394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1561271" y="3779379"/>
            <a:ext cx="1392307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59"/>
              </a:lnSpc>
              <a:buNone/>
            </a:pPr>
            <a:r>
              <a:rPr lang="en-US" sz="800" spc="124" kern="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ОСНОВНАЯ ВЕРСИЯ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286250" y="1768636"/>
            <a:ext cx="4620578" cy="189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238" dirty="0">
                <a:solidFill>
                  <a:srgbClr val="1A1F2E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Основные правила</a:t>
            </a:r>
            <a:endParaRPr lang="en-US" sz="1238" dirty="0"/>
          </a:p>
        </p:txBody>
      </p:sp>
      <p:sp>
        <p:nvSpPr>
          <p:cNvPr id="12" name="Text 9"/>
          <p:cNvSpPr/>
          <p:nvPr/>
        </p:nvSpPr>
        <p:spPr>
          <a:xfrm>
            <a:off x="4286250" y="2073139"/>
            <a:ext cx="4400550" cy="539576"/>
          </a:xfrm>
          <a:prstGeom prst="roundRect">
            <a:avLst>
              <a:gd name="adj" fmla="val 35305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429125" y="2187439"/>
            <a:ext cx="228600" cy="228600"/>
          </a:xfrm>
          <a:prstGeom prst="ellipse">
            <a:avLst/>
          </a:prstGeom>
          <a:solidFill>
            <a:srgbClr val="5ECEC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450199" y="220851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6B0A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5" name="Text 12"/>
          <p:cNvSpPr/>
          <p:nvPr/>
        </p:nvSpPr>
        <p:spPr>
          <a:xfrm>
            <a:off x="4757738" y="2187439"/>
            <a:ext cx="3067180" cy="1489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1A1F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Цветная версия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757738" y="2363800"/>
            <a:ext cx="2921124" cy="134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Tiffany #5ECEC1 на светлом фоне. Основная для цифровой среды.</a:t>
            </a:r>
            <a:endParaRPr lang="en-US" sz="731" dirty="0"/>
          </a:p>
        </p:txBody>
      </p:sp>
      <p:sp>
        <p:nvSpPr>
          <p:cNvPr id="17" name="Text 14"/>
          <p:cNvSpPr/>
          <p:nvPr/>
        </p:nvSpPr>
        <p:spPr>
          <a:xfrm>
            <a:off x="4286250" y="2698440"/>
            <a:ext cx="4400550" cy="539576"/>
          </a:xfrm>
          <a:prstGeom prst="roundRect">
            <a:avLst>
              <a:gd name="adj" fmla="val 35305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429125" y="2812740"/>
            <a:ext cx="228600" cy="228600"/>
          </a:xfrm>
          <a:prstGeom prst="ellipse">
            <a:avLst/>
          </a:prstGeom>
          <a:solidFill>
            <a:srgbClr val="5ECEC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450199" y="2833814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6B0A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0" name="Text 17"/>
          <p:cNvSpPr/>
          <p:nvPr/>
        </p:nvSpPr>
        <p:spPr>
          <a:xfrm>
            <a:off x="4757738" y="2812740"/>
            <a:ext cx="3786188" cy="1489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1A1F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Монохром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757738" y="2989101"/>
            <a:ext cx="2961308" cy="134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Чёрный/тёмно-серый на белой бумаге. Белый на тёмных носителях.</a:t>
            </a:r>
            <a:endParaRPr lang="en-US" sz="731" dirty="0"/>
          </a:p>
        </p:txBody>
      </p:sp>
      <p:sp>
        <p:nvSpPr>
          <p:cNvPr id="22" name="Text 19"/>
          <p:cNvSpPr/>
          <p:nvPr/>
        </p:nvSpPr>
        <p:spPr>
          <a:xfrm>
            <a:off x="4286250" y="3323741"/>
            <a:ext cx="4400550" cy="674191"/>
          </a:xfrm>
          <a:prstGeom prst="roundRect">
            <a:avLst>
              <a:gd name="adj" fmla="val 28256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429125" y="3438041"/>
            <a:ext cx="228600" cy="228600"/>
          </a:xfrm>
          <a:prstGeom prst="ellipse">
            <a:avLst/>
          </a:prstGeom>
          <a:solidFill>
            <a:srgbClr val="5ECEC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450199" y="345911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6B0A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5" name="Text 22"/>
          <p:cNvSpPr/>
          <p:nvPr/>
        </p:nvSpPr>
        <p:spPr>
          <a:xfrm>
            <a:off x="4757738" y="3438041"/>
            <a:ext cx="3786188" cy="1489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1A1F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Минимальные размеры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757738" y="3614403"/>
            <a:ext cx="378618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Печать — 16 мм. Интерфейс — 48 пикселей. Меньше — нельзя: теряется читаемость линий.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257175" y="200025"/>
            <a:ext cx="125777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32" kern="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МИС АЛЬТЕРА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508095" y="4799595"/>
            <a:ext cx="542768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59" kern="0" dirty="0">
                <a:solidFill>
                  <a:srgbClr val="8B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7715250" y="3857625"/>
            <a:ext cx="2000250" cy="2000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0" y="3857625"/>
            <a:ext cx="2000250" cy="200025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4873823" y="2976042"/>
            <a:ext cx="0" cy="668387"/>
          </a:xfrm>
          <a:prstGeom prst="line">
            <a:avLst/>
          </a:prstGeom>
          <a:noFill/>
          <a:ln w="21431">
            <a:solidFill>
              <a:srgbClr val="F35E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400050"/>
            <a:ext cx="86360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61" kern="0" dirty="0">
                <a:solidFill>
                  <a:srgbClr val="46B0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 — ОХРАННОЕ ПОЛЕ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629655"/>
            <a:ext cx="86360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1A1F2E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Правила размещения и защитная зона.</a:t>
            </a:r>
            <a:endParaRPr lang="en-US" sz="2025" dirty="0"/>
          </a:p>
        </p:txBody>
      </p:sp>
      <p:sp>
        <p:nvSpPr>
          <p:cNvPr id="7" name="Text 4"/>
          <p:cNvSpPr/>
          <p:nvPr/>
        </p:nvSpPr>
        <p:spPr>
          <a:xfrm>
            <a:off x="457200" y="996776"/>
            <a:ext cx="585787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Логотип должен легко идентифицироваться. Запрещено загромождать пространство вокруг него.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1351731"/>
            <a:ext cx="4205883" cy="2714625"/>
          </a:xfrm>
          <a:prstGeom prst="roundRect">
            <a:avLst>
              <a:gd name="adj" fmla="val 8421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90500" dist="107763" dir="2700000">
              <a:srgbClr val="AEB8C8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85800" y="1580331"/>
            <a:ext cx="3858411" cy="127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spc="95" kern="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ОХРАННОЕ ПОЛЕ = РАДИУС ЛОГОТИПА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710035" y="1936403"/>
            <a:ext cx="1700213" cy="1700213"/>
          </a:xfrm>
          <a:prstGeom prst="ellipse">
            <a:avLst/>
          </a:prstGeom>
          <a:noFill/>
          <a:ln w="14288">
            <a:solidFill>
              <a:srgbClr val="5ECEC1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131516" y="2357884"/>
            <a:ext cx="857250" cy="857250"/>
          </a:xfrm>
          <a:prstGeom prst="ellipse">
            <a:avLst/>
          </a:prstGeom>
          <a:solidFill>
            <a:srgbClr val="5ECE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228671" y="2455039"/>
            <a:ext cx="662940" cy="6629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4500" dirty="0"/>
          </a:p>
        </p:txBody>
      </p:sp>
      <p:sp>
        <p:nvSpPr>
          <p:cNvPr id="13" name="Text 10"/>
          <p:cNvSpPr/>
          <p:nvPr/>
        </p:nvSpPr>
        <p:spPr>
          <a:xfrm>
            <a:off x="2988766" y="272935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6B0A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4" name="Text 11"/>
          <p:cNvSpPr/>
          <p:nvPr/>
        </p:nvSpPr>
        <p:spPr>
          <a:xfrm>
            <a:off x="3100195" y="2720094"/>
            <a:ext cx="348644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Логотип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3374752" y="189566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6B0A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6" name="Text 13"/>
          <p:cNvSpPr/>
          <p:nvPr/>
        </p:nvSpPr>
        <p:spPr>
          <a:xfrm>
            <a:off x="3298111" y="1886396"/>
            <a:ext cx="559047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≥ R (радиус)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4863108" y="1351731"/>
            <a:ext cx="4280892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spc="95" kern="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СВЕТЛАЯ / ТЁМНАЯ ТЕМА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863108" y="1578099"/>
            <a:ext cx="3823692" cy="485775"/>
          </a:xfrm>
          <a:prstGeom prst="roundRect">
            <a:avLst>
              <a:gd name="adj" fmla="val 39216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995267" y="1681683"/>
            <a:ext cx="278606" cy="278606"/>
          </a:xfrm>
          <a:prstGeom prst="roundRect">
            <a:avLst>
              <a:gd name="adj" fmla="val 27350"/>
            </a:avLst>
          </a:prstGeom>
          <a:solidFill>
            <a:srgbClr val="F9FAFB"/>
          </a:solidFill>
          <a:ln w="7144">
            <a:solidFill>
              <a:srgbClr val="1A1F2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020628" y="170704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46B0A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547" dirty="0"/>
          </a:p>
        </p:txBody>
      </p:sp>
      <p:sp>
        <p:nvSpPr>
          <p:cNvPr id="21" name="Text 18"/>
          <p:cNvSpPr/>
          <p:nvPr/>
        </p:nvSpPr>
        <p:spPr>
          <a:xfrm>
            <a:off x="5377458" y="1756023"/>
            <a:ext cx="3180755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1A1F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Светлая: #5ECEC1 на #F9FAFB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863108" y="2135312"/>
            <a:ext cx="3823692" cy="485775"/>
          </a:xfrm>
          <a:prstGeom prst="roundRect">
            <a:avLst>
              <a:gd name="adj" fmla="val 39216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991695" y="2235324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020628" y="226425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9A9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547" dirty="0"/>
          </a:p>
        </p:txBody>
      </p:sp>
      <p:sp>
        <p:nvSpPr>
          <p:cNvPr id="25" name="Text 22"/>
          <p:cNvSpPr/>
          <p:nvPr/>
        </p:nvSpPr>
        <p:spPr>
          <a:xfrm>
            <a:off x="5377458" y="2313236"/>
            <a:ext cx="3180755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1A1F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Тёмная: белый #FFFFFF или золотой #C9A96E на #161B22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863108" y="2749674"/>
            <a:ext cx="4280892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spc="95" kern="0" dirty="0">
                <a:solidFill>
                  <a:srgbClr val="F35E6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ЗАПРЕЩЕНО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863108" y="2976042"/>
            <a:ext cx="3823692" cy="668387"/>
          </a:xfrm>
          <a:prstGeom prst="roundRect">
            <a:avLst>
              <a:gd name="adj" fmla="val 28501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158349" y="3090342"/>
            <a:ext cx="629006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1A1F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Растягивать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013127" y="309458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35E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984" dirty="0"/>
          </a:p>
        </p:txBody>
      </p:sp>
      <p:sp>
        <p:nvSpPr>
          <p:cNvPr id="30" name="Text 27"/>
          <p:cNvSpPr/>
          <p:nvPr/>
        </p:nvSpPr>
        <p:spPr>
          <a:xfrm>
            <a:off x="7007126" y="3090342"/>
            <a:ext cx="937478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1A1F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Менять пропорции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849963" y="309458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35E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984" dirty="0"/>
          </a:p>
        </p:txBody>
      </p:sp>
      <p:sp>
        <p:nvSpPr>
          <p:cNvPr id="32" name="Text 29"/>
          <p:cNvSpPr/>
          <p:nvPr/>
        </p:nvSpPr>
        <p:spPr>
          <a:xfrm>
            <a:off x="5170289" y="3353098"/>
            <a:ext cx="148880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675" dirty="0">
                <a:solidFill>
                  <a:srgbClr val="1A1F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Перекрашивать в статусные цвета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5013127" y="335733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35E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984" dirty="0"/>
          </a:p>
        </p:txBody>
      </p:sp>
      <p:sp>
        <p:nvSpPr>
          <p:cNvPr id="34" name="Text 31"/>
          <p:cNvSpPr/>
          <p:nvPr/>
        </p:nvSpPr>
        <p:spPr>
          <a:xfrm>
            <a:off x="7007126" y="3284562"/>
            <a:ext cx="1437568" cy="25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675" dirty="0">
                <a:solidFill>
                  <a:srgbClr val="1A1F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Делать полупрозрачным водяным знаком</a:t>
            </a:r>
            <a:endParaRPr lang="en-US" sz="675" dirty="0"/>
          </a:p>
        </p:txBody>
      </p:sp>
      <p:sp>
        <p:nvSpPr>
          <p:cNvPr id="35" name="Text 32"/>
          <p:cNvSpPr/>
          <p:nvPr/>
        </p:nvSpPr>
        <p:spPr>
          <a:xfrm>
            <a:off x="6849963" y="335733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35E6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984" dirty="0"/>
          </a:p>
        </p:txBody>
      </p:sp>
      <p:sp>
        <p:nvSpPr>
          <p:cNvPr id="36" name="Text 33"/>
          <p:cNvSpPr/>
          <p:nvPr/>
        </p:nvSpPr>
        <p:spPr>
          <a:xfrm>
            <a:off x="257175" y="200025"/>
            <a:ext cx="125777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32" kern="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МИС АЛЬТЕРА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8508095" y="4799595"/>
            <a:ext cx="542768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59" kern="0" dirty="0">
                <a:solidFill>
                  <a:srgbClr val="8B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82" y="1355303"/>
            <a:ext cx="2468835" cy="0"/>
          </a:xfrm>
          <a:prstGeom prst="line">
            <a:avLst/>
          </a:prstGeom>
          <a:noFill/>
          <a:ln w="7144">
            <a:solidFill>
              <a:srgbClr val="1A1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94982" y="1805360"/>
            <a:ext cx="2468835" cy="0"/>
          </a:xfrm>
          <a:prstGeom prst="line">
            <a:avLst/>
          </a:prstGeom>
          <a:noFill/>
          <a:ln w="7144">
            <a:solidFill>
              <a:srgbClr val="1A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00050"/>
            <a:ext cx="86360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61" kern="0" dirty="0">
                <a:solidFill>
                  <a:srgbClr val="46B0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05 — ПАЛИТРА UX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29655"/>
            <a:ext cx="86360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1A1F2E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Цветовые пропорции: Интерфейс.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457200" y="996776"/>
            <a:ext cx="585787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Цвет в интерфейсе не должен отвлекать врача от данных. Яркий цвет используется только как призыв к действию.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351731"/>
            <a:ext cx="4937782" cy="457200"/>
          </a:xfrm>
          <a:prstGeom prst="rect">
            <a:avLst/>
          </a:prstGeom>
          <a:solidFill>
            <a:srgbClr val="F1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1351731"/>
            <a:ext cx="493778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60% · Фон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394982" y="1351731"/>
            <a:ext cx="246883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94982" y="1351731"/>
            <a:ext cx="246883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1A1F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30% · Контейнеры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863818" y="1351731"/>
            <a:ext cx="822982" cy="457200"/>
          </a:xfrm>
          <a:prstGeom prst="rect">
            <a:avLst/>
          </a:prstGeom>
          <a:solidFill>
            <a:srgbClr val="5ECE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863818" y="1351731"/>
            <a:ext cx="82298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10% · Акценты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980381"/>
            <a:ext cx="2657475" cy="2000250"/>
          </a:xfrm>
          <a:prstGeom prst="roundRect">
            <a:avLst>
              <a:gd name="adj" fmla="val 11429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90500" dist="107763" dir="2700000">
              <a:srgbClr val="AEB8C8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8650" y="2137544"/>
            <a:ext cx="231457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spc="95" kern="0" dirty="0">
                <a:solidFill>
                  <a:srgbClr val="46B0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60% — ФОН (БАЗА)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8650" y="2398961"/>
            <a:ext cx="357188" cy="714375"/>
          </a:xfrm>
          <a:prstGeom prst="rect">
            <a:avLst/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85838" y="2398961"/>
            <a:ext cx="357188" cy="714375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443038" y="2609031"/>
            <a:ext cx="698055" cy="1339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8B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Light: #F9FAFB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1418973" y="2770436"/>
            <a:ext cx="74618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8B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Dark: #161B22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628650" y="3213348"/>
            <a:ext cx="2314575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1A1F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Фоновое пространство</a:t>
            </a:r>
            <a:endParaRPr lang="en-US" sz="844" dirty="0"/>
          </a:p>
        </p:txBody>
      </p:sp>
      <p:sp>
        <p:nvSpPr>
          <p:cNvPr id="20" name="Text 18"/>
          <p:cNvSpPr/>
          <p:nvPr/>
        </p:nvSpPr>
        <p:spPr>
          <a:xfrm>
            <a:off x="628650" y="3479453"/>
            <a:ext cx="23145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Умеренный матовый серый. Не бликует и не утомляет глаза при длительной работе.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43263" y="1980381"/>
            <a:ext cx="2657475" cy="2000250"/>
          </a:xfrm>
          <a:prstGeom prst="roundRect">
            <a:avLst>
              <a:gd name="adj" fmla="val 11429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90500" dist="107763" dir="2700000">
              <a:srgbClr val="AEB8C8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14713" y="2137544"/>
            <a:ext cx="231457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spc="95" kern="0" dirty="0">
                <a:solidFill>
                  <a:srgbClr val="46B0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30% — КОНТЕЙНЕРЫ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14713" y="2398961"/>
            <a:ext cx="357188" cy="7143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771900" y="2398961"/>
            <a:ext cx="357188" cy="714375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229100" y="2609031"/>
            <a:ext cx="697793" cy="1339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Light: #FFFFFF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4204904" y="2770436"/>
            <a:ext cx="74618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8B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Dark: #21262D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3414713" y="3213348"/>
            <a:ext cx="2314575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1A1F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Карточки и панели</a:t>
            </a:r>
            <a:endParaRPr lang="en-US" sz="844" dirty="0"/>
          </a:p>
        </p:txBody>
      </p:sp>
      <p:sp>
        <p:nvSpPr>
          <p:cNvPr id="28" name="Text 26"/>
          <p:cNvSpPr/>
          <p:nvPr/>
        </p:nvSpPr>
        <p:spPr>
          <a:xfrm>
            <a:off x="3414713" y="3479453"/>
            <a:ext cx="23145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Чистый белый / глубокий тёмно-серый. Формируют структуру интерфейса.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029325" y="1980381"/>
            <a:ext cx="2657475" cy="2000250"/>
          </a:xfrm>
          <a:prstGeom prst="roundRect">
            <a:avLst>
              <a:gd name="adj" fmla="val 11429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90500" dist="107763" dir="2700000">
              <a:srgbClr val="AEB8C8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200775" y="2137544"/>
            <a:ext cx="231457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spc="95" kern="0" dirty="0">
                <a:solidFill>
                  <a:srgbClr val="46B0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10% — АКЦЕНТЫ И ДЕЙСТВИЯ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00775" y="2398961"/>
            <a:ext cx="714375" cy="714375"/>
          </a:xfrm>
          <a:prstGeom prst="roundRect">
            <a:avLst>
              <a:gd name="adj" fmla="val 18667"/>
            </a:avLst>
          </a:prstGeom>
          <a:solidFill>
            <a:srgbClr val="5ECE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330077" y="2528262"/>
            <a:ext cx="455771" cy="455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9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☞</a:t>
            </a:r>
            <a:endParaRPr lang="en-US" sz="3094" dirty="0"/>
          </a:p>
        </p:txBody>
      </p:sp>
      <p:sp>
        <p:nvSpPr>
          <p:cNvPr id="33" name="Text 31"/>
          <p:cNvSpPr/>
          <p:nvPr/>
        </p:nvSpPr>
        <p:spPr>
          <a:xfrm>
            <a:off x="7015163" y="2609031"/>
            <a:ext cx="798656" cy="1339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8B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Tiffany: #5ECEC1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7015163" y="2770436"/>
            <a:ext cx="872252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 статусы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00775" y="3213348"/>
            <a:ext cx="2314575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1A1F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Точечные действия</a:t>
            </a:r>
            <a:endParaRPr lang="en-US" sz="844" dirty="0"/>
          </a:p>
        </p:txBody>
      </p:sp>
      <p:sp>
        <p:nvSpPr>
          <p:cNvPr id="36" name="Text 34"/>
          <p:cNvSpPr/>
          <p:nvPr/>
        </p:nvSpPr>
        <p:spPr>
          <a:xfrm>
            <a:off x="6200775" y="3479453"/>
            <a:ext cx="23145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Фирменный Тиффани #5ECEC1 и статусы. Строго: кнопки, активные ссылки, иконки с прозрачностью.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57175" y="200025"/>
            <a:ext cx="125777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32" kern="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МИС АЛЬТЕРА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508095" y="4799595"/>
            <a:ext cx="542768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59" kern="0" dirty="0">
                <a:solidFill>
                  <a:srgbClr val="8B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7358063" y="-857250"/>
            <a:ext cx="2571750" cy="2571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58063" y="-857250"/>
            <a:ext cx="2571750" cy="257175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400050"/>
            <a:ext cx="86360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61" kern="0" dirty="0">
                <a:solidFill>
                  <a:srgbClr val="46B0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06 — СТАТУСЫ И ПОЛИГРАФИЯ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" y="629655"/>
            <a:ext cx="86360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1A1F2E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Семантика цвета и полиграфия.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457200" y="996776"/>
            <a:ext cx="585787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Статусные цвета несут операционный смысл. В полиграфии пропорции инвертируются для премиального ощущения.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323156"/>
            <a:ext cx="8636000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10" kern="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СТАТУСНЫЕ ЦВЕТА (ИНТЕРФЕЙС)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1567049"/>
            <a:ext cx="1300163" cy="785813"/>
          </a:xfrm>
          <a:prstGeom prst="roundRect">
            <a:avLst>
              <a:gd name="adj" fmla="val 16970"/>
            </a:avLst>
          </a:prstGeom>
          <a:solidFill>
            <a:srgbClr val="27AE60"/>
          </a:solidFill>
          <a:ln/>
          <a:effectLst>
            <a:outerShdw sx="100000" sy="100000" kx="0" ky="0" algn="bl" rotWithShape="0" blurRad="152400" dist="38100" dir="5400000">
              <a:srgbClr val="1A1F2E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7213" y="166706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10" name="Text 7"/>
          <p:cNvSpPr/>
          <p:nvPr/>
        </p:nvSpPr>
        <p:spPr>
          <a:xfrm>
            <a:off x="557213" y="1922004"/>
            <a:ext cx="1100138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Успех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7213" y="2131070"/>
            <a:ext cx="1100138" cy="1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#27AE60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843088" y="1567049"/>
            <a:ext cx="1300163" cy="785813"/>
          </a:xfrm>
          <a:prstGeom prst="roundRect">
            <a:avLst>
              <a:gd name="adj" fmla="val 16970"/>
            </a:avLst>
          </a:prstGeom>
          <a:solidFill>
            <a:srgbClr val="F2B84B"/>
          </a:solidFill>
          <a:ln/>
          <a:effectLst>
            <a:outerShdw sx="100000" sy="100000" kx="0" ky="0" algn="bl" rotWithShape="0" blurRad="152400" dist="38100" dir="5400000">
              <a:srgbClr val="1A1F2E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943100" y="166706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547" dirty="0"/>
          </a:p>
        </p:txBody>
      </p:sp>
      <p:sp>
        <p:nvSpPr>
          <p:cNvPr id="14" name="Text 11"/>
          <p:cNvSpPr/>
          <p:nvPr/>
        </p:nvSpPr>
        <p:spPr>
          <a:xfrm>
            <a:off x="1943100" y="1922004"/>
            <a:ext cx="1100138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Предупреждение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943100" y="2131070"/>
            <a:ext cx="1100138" cy="1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#F2B84B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228975" y="1567049"/>
            <a:ext cx="1300163" cy="785813"/>
          </a:xfrm>
          <a:prstGeom prst="roundRect">
            <a:avLst>
              <a:gd name="adj" fmla="val 16970"/>
            </a:avLst>
          </a:prstGeom>
          <a:solidFill>
            <a:srgbClr val="F35E62"/>
          </a:solidFill>
          <a:ln/>
          <a:effectLst>
            <a:outerShdw sx="100000" sy="100000" kx="0" ky="0" algn="bl" rotWithShape="0" blurRad="152400" dist="38100" dir="5400000">
              <a:srgbClr val="1A1F2E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328988" y="166706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⊗</a:t>
            </a:r>
            <a:endParaRPr lang="en-US" sz="1547" dirty="0"/>
          </a:p>
        </p:txBody>
      </p:sp>
      <p:sp>
        <p:nvSpPr>
          <p:cNvPr id="18" name="Text 15"/>
          <p:cNvSpPr/>
          <p:nvPr/>
        </p:nvSpPr>
        <p:spPr>
          <a:xfrm>
            <a:off x="3328988" y="1922004"/>
            <a:ext cx="1100138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Ошибка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328988" y="2131070"/>
            <a:ext cx="1100138" cy="1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#F35E62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614863" y="1567049"/>
            <a:ext cx="1300163" cy="785813"/>
          </a:xfrm>
          <a:prstGeom prst="roundRect">
            <a:avLst>
              <a:gd name="adj" fmla="val 16970"/>
            </a:avLst>
          </a:prstGeom>
          <a:solidFill>
            <a:srgbClr val="386BF6"/>
          </a:solidFill>
          <a:ln/>
          <a:effectLst>
            <a:outerShdw sx="100000" sy="100000" kx="0" ky="0" algn="bl" rotWithShape="0" blurRad="152400" dist="38100" dir="5400000">
              <a:srgbClr val="1A1F2E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714875" y="166706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547" dirty="0"/>
          </a:p>
        </p:txBody>
      </p:sp>
      <p:sp>
        <p:nvSpPr>
          <p:cNvPr id="22" name="Text 19"/>
          <p:cNvSpPr/>
          <p:nvPr/>
        </p:nvSpPr>
        <p:spPr>
          <a:xfrm>
            <a:off x="4714875" y="1922004"/>
            <a:ext cx="1100137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Информация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714875" y="2131070"/>
            <a:ext cx="1100138" cy="1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#386BF6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000750" y="1567049"/>
            <a:ext cx="1300163" cy="785813"/>
          </a:xfrm>
          <a:prstGeom prst="roundRect">
            <a:avLst>
              <a:gd name="adj" fmla="val 16970"/>
            </a:avLst>
          </a:prstGeom>
          <a:solidFill>
            <a:srgbClr val="8C56FF"/>
          </a:solidFill>
          <a:ln/>
          <a:effectLst>
            <a:outerShdw sx="100000" sy="100000" kx="0" ky="0" algn="bl" rotWithShape="0" blurRad="152400" dist="38100" dir="5400000">
              <a:srgbClr val="1A1F2E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100763" y="166706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26" name="Text 23"/>
          <p:cNvSpPr/>
          <p:nvPr/>
        </p:nvSpPr>
        <p:spPr>
          <a:xfrm>
            <a:off x="6100763" y="1922004"/>
            <a:ext cx="1100138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Выделение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100763" y="2131070"/>
            <a:ext cx="1100138" cy="1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#8C56FF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386638" y="1567049"/>
            <a:ext cx="1300163" cy="785813"/>
          </a:xfrm>
          <a:prstGeom prst="roundRect">
            <a:avLst>
              <a:gd name="adj" fmla="val 16970"/>
            </a:avLst>
          </a:prstGeom>
          <a:solidFill>
            <a:srgbClr val="C9A96E"/>
          </a:solidFill>
          <a:ln/>
          <a:effectLst>
            <a:outerShdw sx="100000" sy="100000" kx="0" ky="0" algn="bl" rotWithShape="0" blurRad="152400" dist="38100" dir="5400000">
              <a:srgbClr val="1A1F2E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7486650" y="166706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547" dirty="0"/>
          </a:p>
        </p:txBody>
      </p:sp>
      <p:sp>
        <p:nvSpPr>
          <p:cNvPr id="30" name="Text 27"/>
          <p:cNvSpPr/>
          <p:nvPr/>
        </p:nvSpPr>
        <p:spPr>
          <a:xfrm>
            <a:off x="7486650" y="1859496"/>
            <a:ext cx="1100138" cy="982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486650" y="1985181"/>
            <a:ext cx="1100137" cy="17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тёмная тема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7486650" y="2131070"/>
            <a:ext cx="1100138" cy="1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#C9A96E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57200" y="2681474"/>
            <a:ext cx="4050506" cy="1285875"/>
          </a:xfrm>
          <a:prstGeom prst="roundRect">
            <a:avLst>
              <a:gd name="adj" fmla="val 17778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90500" dist="107763" dir="2700000">
              <a:srgbClr val="AEB8C8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28650" y="2838636"/>
            <a:ext cx="3817334" cy="129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44" dirty="0">
                <a:solidFill>
                  <a:srgbClr val="1A1F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Правило для полиграфии (Offline)</a:t>
            </a:r>
            <a:endParaRPr lang="en-US" sz="844" dirty="0"/>
          </a:p>
        </p:txBody>
      </p:sp>
      <p:sp>
        <p:nvSpPr>
          <p:cNvPr id="35" name="Text 32"/>
          <p:cNvSpPr/>
          <p:nvPr/>
        </p:nvSpPr>
        <p:spPr>
          <a:xfrm>
            <a:off x="628650" y="3015779"/>
            <a:ext cx="3707606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печати пропорции инвертируются для премиального ощущения. В визитках, буклетах и упаковке #5ECEC1 может становиться доминирующим (60%) фоном.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28650" y="3389263"/>
            <a:ext cx="2224497" cy="200025"/>
          </a:xfrm>
          <a:prstGeom prst="rect">
            <a:avLst/>
          </a:prstGeom>
          <a:solidFill>
            <a:srgbClr val="5ECE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2853147" y="3389263"/>
            <a:ext cx="1112193" cy="200025"/>
          </a:xfrm>
          <a:prstGeom prst="rect">
            <a:avLst/>
          </a:prstGeom>
          <a:solidFill>
            <a:srgbClr val="F5EF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3965339" y="3389263"/>
            <a:ext cx="370694" cy="200025"/>
          </a:xfrm>
          <a:prstGeom prst="rect">
            <a:avLst/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28650" y="3632150"/>
            <a:ext cx="1516707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spc="45" kern="0" dirty="0">
                <a:solidFill>
                  <a:srgbClr val="8B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60% — TIFFANY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2159645" y="3632150"/>
            <a:ext cx="1431206" cy="17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spc="45" kern="0" dirty="0">
                <a:solidFill>
                  <a:srgbClr val="8B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30% — BEIGE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605138" y="3632150"/>
            <a:ext cx="731118" cy="17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spc="45" kern="0" dirty="0">
                <a:solidFill>
                  <a:srgbClr val="8B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10% — CHARCOAL</a:t>
            </a:r>
            <a:endParaRPr lang="en-US" sz="600" dirty="0"/>
          </a:p>
        </p:txBody>
      </p:sp>
      <p:sp>
        <p:nvSpPr>
          <p:cNvPr id="42" name="Text 39"/>
          <p:cNvSpPr/>
          <p:nvPr/>
        </p:nvSpPr>
        <p:spPr>
          <a:xfrm>
            <a:off x="4636294" y="2681474"/>
            <a:ext cx="4050506" cy="1285875"/>
          </a:xfrm>
          <a:prstGeom prst="roundRect">
            <a:avLst>
              <a:gd name="adj" fmla="val 17778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90500" dist="107763" dir="2700000">
              <a:srgbClr val="AEB8C8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4807744" y="2838636"/>
            <a:ext cx="3817334" cy="129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44" dirty="0">
                <a:solidFill>
                  <a:srgbClr val="1A1F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Технические коды для типографий</a:t>
            </a:r>
            <a:endParaRPr lang="en-US" sz="844" dirty="0"/>
          </a:p>
        </p:txBody>
      </p:sp>
      <p:sp>
        <p:nvSpPr>
          <p:cNvPr id="44" name="Text 41"/>
          <p:cNvSpPr/>
          <p:nvPr/>
        </p:nvSpPr>
        <p:spPr>
          <a:xfrm>
            <a:off x="4807744" y="3044354"/>
            <a:ext cx="2863215" cy="1372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spc="111" kern="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CMYK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807744" y="3208995"/>
            <a:ext cx="2827425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A1F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C: 75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4807744" y="3348298"/>
            <a:ext cx="2827425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A1F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M: 0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4807744" y="3487601"/>
            <a:ext cx="2827425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A1F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Y: 40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4807744" y="3626904"/>
            <a:ext cx="28274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A1F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K: 0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6725841" y="3044354"/>
            <a:ext cx="1789509" cy="1372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spc="111" kern="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PANTONE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6725841" y="3208995"/>
            <a:ext cx="1789509" cy="173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61"/>
              </a:lnSpc>
              <a:buNone/>
            </a:pPr>
            <a:r>
              <a:rPr lang="en-US" sz="1238" b="1" dirty="0">
                <a:solidFill>
                  <a:srgbClr val="46B0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Pantone 333 C</a:t>
            </a:r>
            <a:endParaRPr lang="en-US" sz="1238" dirty="0"/>
          </a:p>
        </p:txBody>
      </p:sp>
      <p:sp>
        <p:nvSpPr>
          <p:cNvPr id="51" name="Text 48"/>
          <p:cNvSpPr/>
          <p:nvPr/>
        </p:nvSpPr>
        <p:spPr>
          <a:xfrm>
            <a:off x="6725841" y="3410359"/>
            <a:ext cx="1789509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ближайший аналог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6729413" y="3635722"/>
            <a:ext cx="192881" cy="192881"/>
          </a:xfrm>
          <a:prstGeom prst="roundRect">
            <a:avLst>
              <a:gd name="adj" fmla="val 29630"/>
            </a:avLst>
          </a:prstGeom>
          <a:solidFill>
            <a:srgbClr val="5ECEC1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6983016" y="3671218"/>
            <a:ext cx="1532334" cy="138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#5ECEC1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257175" y="200025"/>
            <a:ext cx="125777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32" kern="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МИС АЛЬТЕРА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8508095" y="4799595"/>
            <a:ext cx="542768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59" kern="0" dirty="0">
                <a:solidFill>
                  <a:srgbClr val="8B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-714375" y="3714750"/>
            <a:ext cx="2286000" cy="228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714375" y="3714750"/>
            <a:ext cx="2286000" cy="228600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400050"/>
            <a:ext cx="86360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61" kern="0" dirty="0">
                <a:solidFill>
                  <a:srgbClr val="46B0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07 — ТИПОГРАФИКА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" y="629655"/>
            <a:ext cx="8636000" cy="33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dirty="0">
                <a:solidFill>
                  <a:srgbClr val="1A1F2E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Фирменный шрифт.</a:t>
            </a:r>
            <a:endParaRPr lang="en-US" sz="2138" dirty="0"/>
          </a:p>
        </p:txBody>
      </p:sp>
      <p:sp>
        <p:nvSpPr>
          <p:cNvPr id="6" name="Text 3"/>
          <p:cNvSpPr/>
          <p:nvPr/>
        </p:nvSpPr>
        <p:spPr>
          <a:xfrm>
            <a:off x="457200" y="1013185"/>
            <a:ext cx="5857875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Сочетание антиквы для заголовков и современного гротеска для интерфейса. Книжное, классическое доверие медицины — при технологичной эстетике.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494495"/>
            <a:ext cx="4036219" cy="2928938"/>
          </a:xfrm>
          <a:prstGeom prst="roundRect">
            <a:avLst>
              <a:gd name="adj" fmla="val 7805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90500" dist="107763" dir="2700000">
              <a:srgbClr val="AEB8C8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594679" y="2708932"/>
            <a:ext cx="2472538" cy="1500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0"/>
              </a:lnSpc>
              <a:buNone/>
            </a:pPr>
            <a:r>
              <a:rPr lang="en-US" sz="18000" b="1" dirty="0">
                <a:solidFill>
                  <a:srgbClr val="5ECEC1">
                    <a:alpha val="5000"/>
                  </a:srgbClr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</a:t>
            </a:r>
            <a:endParaRPr lang="en-US" sz="18000" dirty="0"/>
          </a:p>
        </p:txBody>
      </p:sp>
      <p:sp>
        <p:nvSpPr>
          <p:cNvPr id="9" name="Text 6"/>
          <p:cNvSpPr/>
          <p:nvPr/>
        </p:nvSpPr>
        <p:spPr>
          <a:xfrm>
            <a:off x="671513" y="1708807"/>
            <a:ext cx="3607594" cy="1514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spc="124" kern="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H1 · H2 · H3 — ЗАГОЛОВКИ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1513" y="1887736"/>
            <a:ext cx="3607594" cy="8726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6750"/>
              </a:lnSpc>
              <a:buNone/>
            </a:pPr>
            <a:r>
              <a:rPr lang="en-US" sz="6750" b="1" dirty="0">
                <a:solidFill>
                  <a:srgbClr val="1A1F2E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Aa</a:t>
            </a:r>
            <a:endParaRPr lang="en-US" sz="6750" dirty="0"/>
          </a:p>
        </p:txBody>
      </p:sp>
      <p:sp>
        <p:nvSpPr>
          <p:cNvPr id="11" name="Text 8"/>
          <p:cNvSpPr/>
          <p:nvPr/>
        </p:nvSpPr>
        <p:spPr>
          <a:xfrm>
            <a:off x="671513" y="2787848"/>
            <a:ext cx="3607594" cy="2068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A1F2E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Playfair Display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71513" y="3022141"/>
            <a:ext cx="3607594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Bold · SemiBold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71513" y="3280321"/>
            <a:ext cx="3607594" cy="7144"/>
          </a:xfrm>
          <a:prstGeom prst="rect">
            <a:avLst/>
          </a:prstGeom>
          <a:solidFill>
            <a:srgbClr val="1A1F2E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71513" y="3401764"/>
            <a:ext cx="3717322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dirty="0">
                <a:solidFill>
                  <a:srgbClr val="1A1F2E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Технологии, которые заботятся</a:t>
            </a:r>
            <a:endParaRPr lang="en-US" sz="1238" dirty="0"/>
          </a:p>
        </p:txBody>
      </p:sp>
      <p:sp>
        <p:nvSpPr>
          <p:cNvPr id="15" name="Text 12"/>
          <p:cNvSpPr/>
          <p:nvPr/>
        </p:nvSpPr>
        <p:spPr>
          <a:xfrm>
            <a:off x="671513" y="3647442"/>
            <a:ext cx="36075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Только для крупных заголовков в интерфейсе, презентациях и бланках. Межстрочный интервал — 110%–120% от кегля.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650581" y="1494495"/>
            <a:ext cx="4036219" cy="2928938"/>
          </a:xfrm>
          <a:prstGeom prst="roundRect">
            <a:avLst>
              <a:gd name="adj" fmla="val 7805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90500" dist="107763" dir="2700000">
              <a:srgbClr val="AEB8C8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671462" y="2708932"/>
            <a:ext cx="2472538" cy="1500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0"/>
              </a:lnSpc>
              <a:buNone/>
            </a:pPr>
            <a:r>
              <a:rPr lang="en-US" sz="18000" dirty="0">
                <a:solidFill>
                  <a:srgbClr val="5ECEC1">
                    <a:alpha val="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</a:t>
            </a:r>
            <a:endParaRPr lang="en-US" sz="18000" dirty="0"/>
          </a:p>
        </p:txBody>
      </p:sp>
      <p:sp>
        <p:nvSpPr>
          <p:cNvPr id="18" name="Text 15"/>
          <p:cNvSpPr/>
          <p:nvPr/>
        </p:nvSpPr>
        <p:spPr>
          <a:xfrm>
            <a:off x="4864894" y="1708807"/>
            <a:ext cx="3717322" cy="151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spc="124" kern="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ОСНОВНОЙ ТЕКСТ · ИНТЕРФЕЙС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864894" y="1887736"/>
            <a:ext cx="3607594" cy="8726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6750"/>
              </a:lnSpc>
              <a:buNone/>
            </a:pPr>
            <a:r>
              <a:rPr lang="en-US" sz="6750" dirty="0">
                <a:solidFill>
                  <a:srgbClr val="1A1F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Aa</a:t>
            </a:r>
            <a:endParaRPr lang="en-US" sz="6750" dirty="0"/>
          </a:p>
        </p:txBody>
      </p:sp>
      <p:sp>
        <p:nvSpPr>
          <p:cNvPr id="20" name="Text 17"/>
          <p:cNvSpPr/>
          <p:nvPr/>
        </p:nvSpPr>
        <p:spPr>
          <a:xfrm>
            <a:off x="4864894" y="2787848"/>
            <a:ext cx="3607594" cy="1896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dirty="0">
                <a:solidFill>
                  <a:srgbClr val="1A1F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 / Roboto / SF Pro</a:t>
            </a:r>
            <a:endParaRPr lang="en-US" sz="1238" dirty="0"/>
          </a:p>
        </p:txBody>
      </p:sp>
      <p:sp>
        <p:nvSpPr>
          <p:cNvPr id="21" name="Text 18"/>
          <p:cNvSpPr/>
          <p:nvPr/>
        </p:nvSpPr>
        <p:spPr>
          <a:xfrm>
            <a:off x="4864894" y="3004951"/>
            <a:ext cx="3607594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Regular · Medium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864894" y="3263131"/>
            <a:ext cx="3607594" cy="7144"/>
          </a:xfrm>
          <a:prstGeom prst="rect">
            <a:avLst/>
          </a:prstGeom>
          <a:solidFill>
            <a:srgbClr val="1A1F2E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864894" y="3384575"/>
            <a:ext cx="3607594" cy="50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Применяется для всех текстов, таблиц, кнопок и меток. Межстрочный интервал — 140%–150% от кегля — необходим для комфортного чтения большого объёма данных.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864894" y="3934902"/>
            <a:ext cx="538237" cy="287020"/>
          </a:xfrm>
          <a:prstGeom prst="roundRect">
            <a:avLst>
              <a:gd name="adj" fmla="val 19912"/>
            </a:avLst>
          </a:prstGeom>
          <a:solidFill>
            <a:srgbClr val="5ECEC1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864894" y="3947703"/>
            <a:ext cx="538237" cy="2614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Primary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460281" y="3934902"/>
            <a:ext cx="652760" cy="287020"/>
          </a:xfrm>
          <a:prstGeom prst="roundRect">
            <a:avLst>
              <a:gd name="adj" fmla="val 19912"/>
            </a:avLst>
          </a:prstGeom>
          <a:noFill/>
          <a:ln w="7144">
            <a:solidFill>
              <a:srgbClr val="5ECEC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460281" y="3947703"/>
            <a:ext cx="652760" cy="2614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6B0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Secondary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170191" y="3934902"/>
            <a:ext cx="523949" cy="287020"/>
          </a:xfrm>
          <a:prstGeom prst="roundRect">
            <a:avLst>
              <a:gd name="adj" fmla="val 19912"/>
            </a:avLst>
          </a:prstGeom>
          <a:solidFill>
            <a:srgbClr val="F1F4F6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170191" y="3947703"/>
            <a:ext cx="523949" cy="2614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Tertiary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257175" y="200025"/>
            <a:ext cx="125777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32" kern="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МИС АЛЬТЕРА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8508095" y="4799595"/>
            <a:ext cx="542768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59" kern="0" dirty="0">
                <a:solidFill>
                  <a:srgbClr val="8B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7358063" y="-928687"/>
            <a:ext cx="2571750" cy="2571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58063" y="-928687"/>
            <a:ext cx="2571750" cy="257175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-571500" y="4143375"/>
            <a:ext cx="1714500" cy="1714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-571500" y="4143375"/>
            <a:ext cx="1714500" cy="171450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57200" y="400050"/>
            <a:ext cx="86360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61" kern="0" dirty="0">
                <a:solidFill>
                  <a:srgbClr val="46B0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08 — ВИЗУАЛЬНЫЙ ЯЗЫК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57200" y="629655"/>
            <a:ext cx="8636000" cy="33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dirty="0">
                <a:solidFill>
                  <a:srgbClr val="1A1F2E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Биофилия и тактильность.</a:t>
            </a:r>
            <a:endParaRPr lang="en-US" sz="2138" dirty="0"/>
          </a:p>
        </p:txBody>
      </p:sp>
      <p:sp>
        <p:nvSpPr>
          <p:cNvPr id="8" name="Text 4"/>
          <p:cNvSpPr/>
          <p:nvPr/>
        </p:nvSpPr>
        <p:spPr>
          <a:xfrm>
            <a:off x="457200" y="1013185"/>
            <a:ext cx="5857875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Мы отказываемся от стерильной клинической эстетики в пользу живой, природной. Дизайн должен ощущаться физически, даже в цифре.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457200" y="1494495"/>
            <a:ext cx="4562624" cy="928688"/>
          </a:xfrm>
          <a:prstGeom prst="roundRect">
            <a:avLst>
              <a:gd name="adj" fmla="val 20513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614363" y="1758814"/>
            <a:ext cx="800100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46B0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3150" dirty="0"/>
          </a:p>
        </p:txBody>
      </p:sp>
      <p:sp>
        <p:nvSpPr>
          <p:cNvPr id="11" name="Text 7"/>
          <p:cNvSpPr/>
          <p:nvPr/>
        </p:nvSpPr>
        <p:spPr>
          <a:xfrm>
            <a:off x="1243013" y="1732359"/>
            <a:ext cx="3619649" cy="1468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dirty="0">
                <a:solidFill>
                  <a:srgbClr val="1A1F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Мягкие 3D-абстракции</a:t>
            </a:r>
            <a:endParaRPr lang="en-US" sz="956" dirty="0"/>
          </a:p>
        </p:txBody>
      </p:sp>
      <p:sp>
        <p:nvSpPr>
          <p:cNvPr id="12" name="Text 8"/>
          <p:cNvSpPr/>
          <p:nvPr/>
        </p:nvSpPr>
        <p:spPr>
          <a:xfrm>
            <a:off x="1243013" y="1906600"/>
            <a:ext cx="36196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Плавные, объёмные формы — сферы, перетекающие ленты, капли. Никаких жёстких квадратов и острых углов. Только скругления.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457200" y="2523195"/>
            <a:ext cx="4562624" cy="928688"/>
          </a:xfrm>
          <a:prstGeom prst="roundRect">
            <a:avLst>
              <a:gd name="adj" fmla="val 20513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614363" y="2787514"/>
            <a:ext cx="800100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46B0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3150" dirty="0"/>
          </a:p>
        </p:txBody>
      </p:sp>
      <p:sp>
        <p:nvSpPr>
          <p:cNvPr id="15" name="Text 11"/>
          <p:cNvSpPr/>
          <p:nvPr/>
        </p:nvSpPr>
        <p:spPr>
          <a:xfrm>
            <a:off x="1243013" y="2761059"/>
            <a:ext cx="3729377" cy="146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dirty="0">
                <a:solidFill>
                  <a:srgbClr val="1A1F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Эффект преломления света (Стекло)</a:t>
            </a:r>
            <a:endParaRPr lang="en-US" sz="956" dirty="0"/>
          </a:p>
        </p:txBody>
      </p:sp>
      <p:sp>
        <p:nvSpPr>
          <p:cNvPr id="16" name="Text 12"/>
          <p:cNvSpPr/>
          <p:nvPr/>
        </p:nvSpPr>
        <p:spPr>
          <a:xfrm>
            <a:off x="1243013" y="2935300"/>
            <a:ext cx="36196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Полупрозрачные слои, эффект матового стекла — Glassmorphism. Только цвета из палитры, с мягкими градиентными переходами.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457200" y="3551895"/>
            <a:ext cx="4562624" cy="928688"/>
          </a:xfrm>
          <a:prstGeom prst="roundRect">
            <a:avLst>
              <a:gd name="adj" fmla="val 20513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614363" y="3816214"/>
            <a:ext cx="800100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46B0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3150" dirty="0"/>
          </a:p>
        </p:txBody>
      </p:sp>
      <p:sp>
        <p:nvSpPr>
          <p:cNvPr id="19" name="Text 15"/>
          <p:cNvSpPr/>
          <p:nvPr/>
        </p:nvSpPr>
        <p:spPr>
          <a:xfrm>
            <a:off x="1243013" y="3789759"/>
            <a:ext cx="3619649" cy="1468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dirty="0">
                <a:solidFill>
                  <a:srgbClr val="1A1F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Обобщение людей</a:t>
            </a:r>
            <a:endParaRPr lang="en-US" sz="956" dirty="0"/>
          </a:p>
        </p:txBody>
      </p:sp>
      <p:sp>
        <p:nvSpPr>
          <p:cNvPr id="20" name="Text 16"/>
          <p:cNvSpPr/>
          <p:nvPr/>
        </p:nvSpPr>
        <p:spPr>
          <a:xfrm>
            <a:off x="1243013" y="3964000"/>
            <a:ext cx="36196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Только стилизованные белые или цветовые силуэты. Без портретов. Лицо врача или пациента — табу, чтобы не создавать отчуждения.</a:t>
            </a:r>
            <a:endParaRPr lang="en-US" sz="8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6986" y="1494495"/>
            <a:ext cx="3509702" cy="295751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80558" y="1498067"/>
            <a:ext cx="3502558" cy="2950369"/>
          </a:xfrm>
          <a:prstGeom prst="roundRect">
            <a:avLst>
              <a:gd name="adj" fmla="val 6457"/>
            </a:avLst>
          </a:prstGeom>
          <a:noFill/>
          <a:ln w="7144">
            <a:solidFill>
              <a:srgbClr val="5ECEC1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6646032" y="2108299"/>
            <a:ext cx="571500" cy="571500"/>
          </a:xfrm>
          <a:prstGeom prst="ellipse">
            <a:avLst/>
          </a:prstGeom>
          <a:solidFill>
            <a:srgbClr val="5ECEC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6646032" y="2108299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938" dirty="0">
                <a:solidFill>
                  <a:srgbClr val="46B0A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3938" dirty="0"/>
          </a:p>
        </p:txBody>
      </p:sp>
      <p:sp>
        <p:nvSpPr>
          <p:cNvPr id="25" name="Text 20"/>
          <p:cNvSpPr/>
          <p:nvPr/>
        </p:nvSpPr>
        <p:spPr>
          <a:xfrm>
            <a:off x="5355580" y="2779812"/>
            <a:ext cx="3262243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spc="132" kern="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ИЛЛЮСТРАЦИЯ: БИОФИЛЬНАЯ 3D-АБСТРАКЦИЯ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6074532" y="3023704"/>
            <a:ext cx="17145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Сферы и перетекающие ленты в цветах палитры, эффект матового стекла.</a:t>
            </a:r>
            <a:endParaRPr lang="en-US" sz="8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7469" y="3409466"/>
            <a:ext cx="428625" cy="42862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721041" y="3413038"/>
            <a:ext cx="421481" cy="421481"/>
          </a:xfrm>
          <a:prstGeom prst="roundRect">
            <a:avLst>
              <a:gd name="adj" fmla="val 31638"/>
            </a:avLst>
          </a:prstGeom>
          <a:noFill/>
          <a:ln w="7144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5ECEC1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257175" y="200025"/>
            <a:ext cx="125777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32" kern="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МИС АЛЬТЕРА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8508095" y="4799595"/>
            <a:ext cx="542768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59" kern="0" dirty="0">
                <a:solidFill>
                  <a:srgbClr val="8B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7643813" y="3714750"/>
            <a:ext cx="2286000" cy="228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43813" y="3714750"/>
            <a:ext cx="2286000" cy="228600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-571500" y="-714375"/>
            <a:ext cx="1714500" cy="1714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-571500" y="-714375"/>
            <a:ext cx="1714500" cy="171450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57200" y="400050"/>
            <a:ext cx="8636000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61" kern="0" dirty="0">
                <a:solidFill>
                  <a:srgbClr val="46B0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09 — ПОЛИГРАФИЯ И МАТЕРИАЛЫ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57200" y="629655"/>
            <a:ext cx="86360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1A1F2E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Физические носители и фактуры.</a:t>
            </a:r>
            <a:endParaRPr lang="en-US" sz="2025" dirty="0"/>
          </a:p>
        </p:txBody>
      </p:sp>
      <p:sp>
        <p:nvSpPr>
          <p:cNvPr id="8" name="Text 4"/>
          <p:cNvSpPr/>
          <p:nvPr/>
        </p:nvSpPr>
        <p:spPr>
          <a:xfrm>
            <a:off x="457200" y="996776"/>
            <a:ext cx="585787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Бумага и печать передают ощущение дорогого природного камня или матового стекла через тактильные ощущения.</a:t>
            </a:r>
            <a:endParaRPr lang="en-US" sz="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3156"/>
            <a:ext cx="3837198" cy="29289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5800" y="1551756"/>
            <a:ext cx="3379998" cy="94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spc="124" kern="0" dirty="0">
                <a:solidFill>
                  <a:srgbClr val="8B73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МАТЕРИАЛ · ОБРАЗЕЦ</a:t>
            </a:r>
            <a:endParaRPr lang="en-US" sz="8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9931" y="1923343"/>
            <a:ext cx="1571625" cy="157162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593503" y="1926915"/>
            <a:ext cx="1564481" cy="1564481"/>
          </a:xfrm>
          <a:prstGeom prst="roundRect">
            <a:avLst>
              <a:gd name="adj" fmla="val 10959"/>
            </a:avLst>
          </a:prstGeom>
          <a:solidFill>
            <a:srgbClr val="E8DFD0"/>
          </a:solidFill>
          <a:ln w="7144">
            <a:solidFill>
              <a:srgbClr val="8B73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2197150" y="2321272"/>
            <a:ext cx="357188" cy="357188"/>
          </a:xfrm>
          <a:prstGeom prst="ellipse">
            <a:avLst/>
          </a:prstGeom>
          <a:solidFill>
            <a:srgbClr val="5ECEC1"/>
          </a:solidFill>
          <a:ln/>
          <a:effectLst>
            <a:outerShdw sx="100000" sy="100000" kx="0" ky="0" algn="bl" rotWithShape="0" blurRad="114300" dist="38100" dir="5400000">
              <a:srgbClr val="5ECEC1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2230725" y="2354848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969" dirty="0"/>
          </a:p>
        </p:txBody>
      </p:sp>
      <p:sp>
        <p:nvSpPr>
          <p:cNvPr id="15" name="Text 9"/>
          <p:cNvSpPr/>
          <p:nvPr/>
        </p:nvSpPr>
        <p:spPr>
          <a:xfrm>
            <a:off x="2145452" y="2764185"/>
            <a:ext cx="571409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5C4A33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300 г/м²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1892089" y="2964210"/>
            <a:ext cx="1064039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spc="14" kern="0" dirty="0">
                <a:solidFill>
                  <a:srgbClr val="8B73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Splendorlux Felt / Velvet</a:t>
            </a:r>
            <a:endParaRPr lang="en-US" sz="675" dirty="0"/>
          </a:p>
        </p:txBody>
      </p:sp>
      <p:sp>
        <p:nvSpPr>
          <p:cNvPr id="17" name="Text 11"/>
          <p:cNvSpPr/>
          <p:nvPr/>
        </p:nvSpPr>
        <p:spPr>
          <a:xfrm>
            <a:off x="685800" y="3744888"/>
            <a:ext cx="337999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C4A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Матовая дизайнерская бумага, плотность 300 г/м², бархатистая шероховатая поверхность.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4465848" y="1323156"/>
            <a:ext cx="4220952" cy="928688"/>
          </a:xfrm>
          <a:prstGeom prst="roundRect">
            <a:avLst>
              <a:gd name="adj" fmla="val 20513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4623011" y="1587475"/>
            <a:ext cx="400050" cy="400050"/>
          </a:xfrm>
          <a:prstGeom prst="ellipse">
            <a:avLst/>
          </a:prstGeom>
          <a:solidFill>
            <a:srgbClr val="5ECEC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4688376" y="1652841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46B0A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21" name="Text 15"/>
          <p:cNvSpPr/>
          <p:nvPr/>
        </p:nvSpPr>
        <p:spPr>
          <a:xfrm>
            <a:off x="5151648" y="1565374"/>
            <a:ext cx="3377989" cy="1382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1A1F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Матовая офсетная печать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5151648" y="1731020"/>
            <a:ext cx="33779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Преобладающий способ печати для всех носителей. Мягкое, небликующее покрытие.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4465848" y="2351856"/>
            <a:ext cx="4220952" cy="928688"/>
          </a:xfrm>
          <a:prstGeom prst="roundRect">
            <a:avLst>
              <a:gd name="adj" fmla="val 20513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4623011" y="2616175"/>
            <a:ext cx="400050" cy="400050"/>
          </a:xfrm>
          <a:prstGeom prst="ellipse">
            <a:avLst/>
          </a:prstGeom>
          <a:solidFill>
            <a:srgbClr val="5ECEC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4688376" y="2681541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46B0A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26" name="Text 20"/>
          <p:cNvSpPr/>
          <p:nvPr/>
        </p:nvSpPr>
        <p:spPr>
          <a:xfrm>
            <a:off x="5151648" y="2594074"/>
            <a:ext cx="3377989" cy="1382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1A1F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Выборочный УФ-лак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5151648" y="2759720"/>
            <a:ext cx="33779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Логотип на визитке покрывается глянцевым УФ-лаком — контраст с матовой бумагой.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4465848" y="3380556"/>
            <a:ext cx="4220952" cy="928688"/>
          </a:xfrm>
          <a:prstGeom prst="roundRect">
            <a:avLst>
              <a:gd name="adj" fmla="val 20513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4623011" y="3644875"/>
            <a:ext cx="400050" cy="400050"/>
          </a:xfrm>
          <a:prstGeom prst="ellipse">
            <a:avLst/>
          </a:prstGeom>
          <a:solidFill>
            <a:srgbClr val="5ECEC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4688376" y="3710241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46B0A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31" name="Text 25"/>
          <p:cNvSpPr/>
          <p:nvPr/>
        </p:nvSpPr>
        <p:spPr>
          <a:xfrm>
            <a:off x="5151648" y="3622774"/>
            <a:ext cx="3377989" cy="1382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1A1F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Блинтовое тиснение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5151648" y="3788420"/>
            <a:ext cx="33779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конвертах и премиальных папках — бесцветное тиснение логотипа, создающее физический рельеф.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257175" y="200025"/>
            <a:ext cx="125777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32" kern="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МИС АЛЬТЕРА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8508095" y="4799595"/>
            <a:ext cx="542768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59" kern="0" dirty="0">
                <a:solidFill>
                  <a:srgbClr val="8B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7786688" y="-785812"/>
            <a:ext cx="2000250" cy="2000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86688" y="-785812"/>
            <a:ext cx="2000250" cy="200025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571500" y="4071938"/>
            <a:ext cx="1857375" cy="18573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-571500" y="4071938"/>
            <a:ext cx="1857375" cy="1857375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57200" y="400050"/>
            <a:ext cx="86360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61" kern="0" dirty="0">
                <a:solidFill>
                  <a:srgbClr val="46B0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 — ДЕЛОВАЯ ДОКУМЕНТАЦИЯ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57200" y="629655"/>
            <a:ext cx="86360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1A1F2E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Бланки, визитки и идентификация.</a:t>
            </a:r>
            <a:endParaRPr lang="en-US" sz="2025" dirty="0"/>
          </a:p>
        </p:txBody>
      </p:sp>
      <p:sp>
        <p:nvSpPr>
          <p:cNvPr id="8" name="Text 4"/>
          <p:cNvSpPr/>
          <p:nvPr/>
        </p:nvSpPr>
        <p:spPr>
          <a:xfrm>
            <a:off x="457200" y="996776"/>
            <a:ext cx="5857875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Строгие требования к печатной продукции. Высокая контрастность, чистая типографика, точечное использование фирменного цвета.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457200" y="1478087"/>
            <a:ext cx="2989659" cy="2928938"/>
          </a:xfrm>
          <a:prstGeom prst="roundRect">
            <a:avLst>
              <a:gd name="adj" fmla="val 7805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90500" dist="107763" dir="2700000">
              <a:srgbClr val="AEB8C8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614363" y="1635249"/>
            <a:ext cx="2675334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spc="124" kern="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БЛАНК · А4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614363" y="2031839"/>
            <a:ext cx="2675334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381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728663" y="2146139"/>
            <a:ext cx="157163" cy="157163"/>
          </a:xfrm>
          <a:prstGeom prst="ellipse">
            <a:avLst/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734735" y="2152211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984" dirty="0"/>
          </a:p>
        </p:txBody>
      </p:sp>
      <p:sp>
        <p:nvSpPr>
          <p:cNvPr id="14" name="Text 10"/>
          <p:cNvSpPr/>
          <p:nvPr/>
        </p:nvSpPr>
        <p:spPr>
          <a:xfrm>
            <a:off x="942975" y="2158305"/>
            <a:ext cx="2232422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spc="27" kern="0" dirty="0">
                <a:solidFill>
                  <a:srgbClr val="1A1F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Альтера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28663" y="2374739"/>
            <a:ext cx="2446734" cy="14288"/>
          </a:xfrm>
          <a:prstGeom prst="rect">
            <a:avLst/>
          </a:prstGeom>
          <a:solidFill>
            <a:srgbClr val="5ECE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728663" y="2489039"/>
            <a:ext cx="1957388" cy="42863"/>
          </a:xfrm>
          <a:prstGeom prst="roundRect">
            <a:avLst>
              <a:gd name="adj" fmla="val 66666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728663" y="2589051"/>
            <a:ext cx="2202061" cy="42863"/>
          </a:xfrm>
          <a:prstGeom prst="roundRect">
            <a:avLst>
              <a:gd name="adj" fmla="val 66666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728663" y="2689064"/>
            <a:ext cx="1712714" cy="42863"/>
          </a:xfrm>
          <a:prstGeom prst="roundRect">
            <a:avLst>
              <a:gd name="adj" fmla="val 66666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728663" y="2789076"/>
            <a:ext cx="2079724" cy="42863"/>
          </a:xfrm>
          <a:prstGeom prst="roundRect">
            <a:avLst>
              <a:gd name="adj" fmla="val 66666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614363" y="3992687"/>
            <a:ext cx="267533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Белая бумага #FFFFFF. Тонкая линия #5ECEC1 в шапке. Логотип — чёрный/тёмно-серый. Текст — только Sans-serif (Inter).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3575447" y="1478087"/>
            <a:ext cx="2491383" cy="2928938"/>
          </a:xfrm>
          <a:prstGeom prst="roundRect">
            <a:avLst>
              <a:gd name="adj" fmla="val 9176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90500" dist="107763" dir="2700000">
              <a:srgbClr val="AEB8C8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3732609" y="1635249"/>
            <a:ext cx="2177058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spc="124" kern="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ВИЗИТКА · 85×55 ММ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078188" y="2596195"/>
            <a:ext cx="714375" cy="457200"/>
          </a:xfrm>
          <a:prstGeom prst="roundRect">
            <a:avLst>
              <a:gd name="adj" fmla="val 12500"/>
            </a:avLst>
          </a:prstGeom>
          <a:solidFill>
            <a:srgbClr val="5ECEC1"/>
          </a:solidFill>
          <a:ln/>
          <a:effectLst>
            <a:outerShdw sx="100000" sy="100000" kx="0" ky="0" algn="bl" rotWithShape="0" blurRad="95250" dist="38100" dir="5400000">
              <a:srgbClr val="5ECEC1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4290358" y="2679777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969" dirty="0"/>
          </a:p>
        </p:txBody>
      </p:sp>
      <p:sp>
        <p:nvSpPr>
          <p:cNvPr id="25" name="Text 21"/>
          <p:cNvSpPr/>
          <p:nvPr/>
        </p:nvSpPr>
        <p:spPr>
          <a:xfrm>
            <a:off x="4853285" y="2599767"/>
            <a:ext cx="707231" cy="450056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7144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4902588" y="2699779"/>
            <a:ext cx="6086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698"/>
              </a:lnSpc>
              <a:buNone/>
            </a:pPr>
            <a:r>
              <a:rPr lang="en-US" sz="800" spc="18" kern="0" dirty="0">
                <a:solidFill>
                  <a:srgbClr val="1A1F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Иван Петров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4914007" y="2802582"/>
            <a:ext cx="585787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3"/>
              </a:lnSpc>
              <a:buNone/>
            </a:pPr>
            <a:r>
              <a:rPr lang="en-US" sz="60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Главный врач</a:t>
            </a:r>
            <a:endParaRPr lang="en-US" sz="600" dirty="0"/>
          </a:p>
        </p:txBody>
      </p:sp>
      <p:sp>
        <p:nvSpPr>
          <p:cNvPr id="28" name="Text 24"/>
          <p:cNvSpPr/>
          <p:nvPr/>
        </p:nvSpPr>
        <p:spPr>
          <a:xfrm>
            <a:off x="4914007" y="2883284"/>
            <a:ext cx="585788" cy="105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3"/>
              </a:lnSpc>
              <a:buNone/>
            </a:pPr>
            <a:r>
              <a:rPr lang="en-US" sz="600" dirty="0">
                <a:solidFill>
                  <a:srgbClr val="4A54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+7 999 123-45-67</a:t>
            </a:r>
            <a:endParaRPr lang="en-US" sz="600" dirty="0"/>
          </a:p>
        </p:txBody>
      </p:sp>
      <p:sp>
        <p:nvSpPr>
          <p:cNvPr id="29" name="Text 25"/>
          <p:cNvSpPr/>
          <p:nvPr/>
        </p:nvSpPr>
        <p:spPr>
          <a:xfrm>
            <a:off x="3732609" y="3864099"/>
            <a:ext cx="217705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одной стороны — логотип на фирменном фоне. С другой — контактные данные. Имя и должность — Playfair Display, контакты — Inter.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195417" y="1478087"/>
            <a:ext cx="2491383" cy="2928938"/>
          </a:xfrm>
          <a:prstGeom prst="roundRect">
            <a:avLst>
              <a:gd name="adj" fmla="val 9176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90500" dist="107763" dir="2700000">
              <a:srgbClr val="AEB8C8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6352580" y="1635249"/>
            <a:ext cx="2177058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spc="124" kern="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БЕЙДЖ · КАРТОЧКА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6980337" y="2442604"/>
            <a:ext cx="921544" cy="635794"/>
          </a:xfrm>
          <a:prstGeom prst="roundRect">
            <a:avLst>
              <a:gd name="adj" fmla="val 11985"/>
            </a:avLst>
          </a:prstGeom>
          <a:solidFill>
            <a:srgbClr val="FFFFFF"/>
          </a:solidFill>
          <a:ln w="7144">
            <a:solidFill>
              <a:srgbClr val="1A1F2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7376815" y="2517614"/>
            <a:ext cx="128588" cy="79363"/>
          </a:xfrm>
          <a:prstGeom prst="roundRect">
            <a:avLst>
              <a:gd name="adj" fmla="val 1152174"/>
            </a:avLst>
          </a:prstGeom>
          <a:solidFill>
            <a:srgbClr val="5ECE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7401427" y="251761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7121091" y="2625551"/>
            <a:ext cx="705780" cy="1558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b="1" spc="50" kern="0" dirty="0">
                <a:solidFill>
                  <a:srgbClr val="1A1F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ИВАН ПЕТРОВ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7298234" y="2775905"/>
            <a:ext cx="285750" cy="4353"/>
          </a:xfrm>
          <a:prstGeom prst="rect">
            <a:avLst/>
          </a:prstGeom>
          <a:solidFill>
            <a:srgbClr val="5ECE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7167179" y="2808833"/>
            <a:ext cx="66257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698"/>
              </a:lnSpc>
              <a:buNone/>
            </a:pPr>
            <a:r>
              <a:rPr lang="en-US" sz="800" spc="45" kern="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ГЛАВНЫЙ ВРАЧ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7222108" y="2925924"/>
            <a:ext cx="52627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0"/>
              </a:lnSpc>
              <a:buNone/>
            </a:pPr>
            <a:r>
              <a:rPr lang="en-US" sz="600" spc="24" kern="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ОТДЕЛЕНИЕ №3</a:t>
            </a:r>
            <a:endParaRPr lang="en-US" sz="600" dirty="0"/>
          </a:p>
        </p:txBody>
      </p:sp>
      <p:sp>
        <p:nvSpPr>
          <p:cNvPr id="39" name="Text 35"/>
          <p:cNvSpPr/>
          <p:nvPr/>
        </p:nvSpPr>
        <p:spPr>
          <a:xfrm>
            <a:off x="6352580" y="3735512"/>
            <a:ext cx="217705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Высокая контрастность — белый фон и чёткий чёрный текст. Логотип #5ECEC1 в малом размере строго обязателен. Для ярких операционных — версия с белым фоном.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257175" y="200025"/>
            <a:ext cx="125777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32" kern="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МИС АЛЬТЕРА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8508095" y="4799595"/>
            <a:ext cx="542768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59" kern="0" dirty="0">
                <a:solidFill>
                  <a:srgbClr val="8B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7858125" y="-571500"/>
            <a:ext cx="1857375" cy="18573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58125" y="-571500"/>
            <a:ext cx="1857375" cy="1857375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400050"/>
            <a:ext cx="86360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61" kern="0" dirty="0">
                <a:solidFill>
                  <a:srgbClr val="46B0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11 — UI KIT · КНОПКИ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" y="615367"/>
            <a:ext cx="8636000" cy="311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68"/>
              </a:lnSpc>
              <a:buNone/>
            </a:pPr>
            <a:r>
              <a:rPr lang="en-US" sz="2025" b="1" dirty="0">
                <a:solidFill>
                  <a:srgbClr val="1A1F2E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Кнопки и состояния.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457200" y="974787"/>
            <a:ext cx="5857875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Единый стандарт для всех кнопок системы. Скругление углов (border-radius) — 6–8 пикселей. Чётко прописаны Hover, Active, Disabled.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456097"/>
            <a:ext cx="2666963" cy="1428750"/>
          </a:xfrm>
          <a:prstGeom prst="roundRect">
            <a:avLst>
              <a:gd name="adj" fmla="val 13333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518717" y="1578992"/>
            <a:ext cx="778679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spc="122" kern="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PRIMARY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238463" y="1456097"/>
            <a:ext cx="2666963" cy="1428750"/>
          </a:xfrm>
          <a:prstGeom prst="roundRect">
            <a:avLst>
              <a:gd name="adj" fmla="val 13333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208115" y="1578992"/>
            <a:ext cx="104191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spc="122" kern="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SECONDARY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019726" y="1456097"/>
            <a:ext cx="2667074" cy="1428750"/>
          </a:xfrm>
          <a:prstGeom prst="roundRect">
            <a:avLst>
              <a:gd name="adj" fmla="val 13333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104794" y="1578992"/>
            <a:ext cx="711392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spc="122" kern="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DANGER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57200" y="2999147"/>
            <a:ext cx="4733851" cy="1285875"/>
          </a:xfrm>
          <a:prstGeom prst="roundRect">
            <a:avLst>
              <a:gd name="adj" fmla="val 17778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90500" dist="107763" dir="2700000">
              <a:srgbClr val="AEB8C8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28650" y="3142022"/>
            <a:ext cx="4390951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spc="95" kern="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СОСТОЯНИЯ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28650" y="3370676"/>
            <a:ext cx="427174" cy="224028"/>
          </a:xfrm>
          <a:prstGeom prst="roundRect">
            <a:avLst>
              <a:gd name="adj" fmla="val 25510"/>
            </a:avLst>
          </a:prstGeom>
          <a:solidFill>
            <a:srgbClr val="5ECEC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28650" y="3382677"/>
            <a:ext cx="42717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dirty="0">
                <a:solidFill>
                  <a:srgbClr val="46B0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Hover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27261" y="3370676"/>
            <a:ext cx="436662" cy="224028"/>
          </a:xfrm>
          <a:prstGeom prst="roundRect">
            <a:avLst>
              <a:gd name="adj" fmla="val 25510"/>
            </a:avLst>
          </a:prstGeom>
          <a:solidFill>
            <a:srgbClr val="46B0A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127261" y="3382677"/>
            <a:ext cx="43666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Active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635361" y="3370676"/>
            <a:ext cx="543930" cy="224028"/>
          </a:xfrm>
          <a:prstGeom prst="roundRect">
            <a:avLst>
              <a:gd name="adj" fmla="val 25510"/>
            </a:avLst>
          </a:prstGeom>
          <a:solidFill>
            <a:srgbClr val="F1F4F6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1635361" y="3382677"/>
            <a:ext cx="54393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dirty="0">
                <a:solidFill>
                  <a:srgbClr val="8B95A7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Disabled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250728" y="3370676"/>
            <a:ext cx="444922" cy="224028"/>
          </a:xfrm>
          <a:prstGeom prst="roundRect">
            <a:avLst>
              <a:gd name="adj" fmla="val 25510"/>
            </a:avLst>
          </a:prstGeom>
          <a:solidFill>
            <a:srgbClr val="FFFFFF"/>
          </a:solidFill>
          <a:ln w="14288">
            <a:solidFill>
              <a:srgbClr val="5ECEC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2250728" y="3382677"/>
            <a:ext cx="44492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dirty="0">
                <a:solidFill>
                  <a:srgbClr val="1A1F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Focus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28650" y="3682715"/>
            <a:ext cx="43909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Disabled — прозрачность 50%, отсутствие реакции на клик. Focus — двойная обводка цвета #5ECEC1 для доступности с клавиатуры.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305351" y="2999147"/>
            <a:ext cx="3381338" cy="1285875"/>
          </a:xfrm>
          <a:prstGeom prst="roundRect">
            <a:avLst>
              <a:gd name="adj" fmla="val 17778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90500" dist="107763" dir="2700000">
              <a:srgbClr val="AEB8C8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476801" y="3142022"/>
            <a:ext cx="3038438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spc="95" kern="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ТЕНИ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476801" y="3356817"/>
            <a:ext cx="396143" cy="216027"/>
          </a:xfrm>
          <a:prstGeom prst="roundRect">
            <a:avLst>
              <a:gd name="adj" fmla="val 26455"/>
            </a:avLst>
          </a:prstGeom>
          <a:solidFill>
            <a:srgbClr val="5ECEC1"/>
          </a:solidFill>
          <a:ln/>
          <a:effectLst>
            <a:outerShdw sx="100000" sy="100000" kx="0" ky="0" algn="bl" rotWithShape="0" blurRad="11430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476801" y="3368390"/>
            <a:ext cx="39614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19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Light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958669" y="3356817"/>
            <a:ext cx="386544" cy="216027"/>
          </a:xfrm>
          <a:prstGeom prst="roundRect">
            <a:avLst>
              <a:gd name="adj" fmla="val 26455"/>
            </a:avLst>
          </a:prstGeom>
          <a:solidFill>
            <a:srgbClr val="5ECEC1"/>
          </a:solidFill>
          <a:ln/>
          <a:effectLst>
            <a:outerShdw sx="100000" sy="100000" kx="0" ky="0" algn="bl" rotWithShape="0" blurRad="101600" dist="50800" dir="16200000">
              <a:srgbClr val="5ECEC1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958669" y="3368390"/>
            <a:ext cx="38654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19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Dark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476801" y="3646996"/>
            <a:ext cx="30384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Светлая — мягкие тени 0px 4px 12px rgba(0,0,0,0.05). Тёмная — плотные чёрные тени или отсутствие теней с усилением эффекта освещения кнопки.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257175" y="200025"/>
            <a:ext cx="2478848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32" kern="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МИС АЛЬТЕРА · BRAND BOOK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8508095" y="4799595"/>
            <a:ext cx="542768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59" kern="0" dirty="0">
                <a:solidFill>
                  <a:srgbClr val="8B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7429500" y="-714375"/>
            <a:ext cx="2428875" cy="24288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0" y="-714375"/>
            <a:ext cx="2428875" cy="2428875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/tmp/h2p-svg-1786014518137-xrn8k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120131"/>
            <a:ext cx="4374319" cy="15699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400050"/>
            <a:ext cx="86360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61" kern="0" dirty="0">
                <a:solidFill>
                  <a:srgbClr val="C9A9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 — UI KIT · ДАННЫЕ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57200" y="615367"/>
            <a:ext cx="8636000" cy="293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2"/>
              </a:lnSpc>
              <a:buNone/>
            </a:pPr>
            <a:r>
              <a:rPr lang="en-US" sz="1913" b="1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Визуализация медицинских данных.</a:t>
            </a:r>
            <a:endParaRPr lang="en-US" sz="1913" dirty="0"/>
          </a:p>
        </p:txBody>
      </p:sp>
      <p:sp>
        <p:nvSpPr>
          <p:cNvPr id="7" name="Text 3"/>
          <p:cNvSpPr/>
          <p:nvPr/>
        </p:nvSpPr>
        <p:spPr>
          <a:xfrm>
            <a:off x="457200" y="958825"/>
            <a:ext cx="5857875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B5BEC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МИС очень много цифр. Они должны быть строгими, без кислотных цветов. Графики — с лёгким эффектом фосфоресценции в тёмной теме.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57200" y="1440135"/>
            <a:ext cx="4717219" cy="2928938"/>
          </a:xfrm>
          <a:prstGeom prst="roundRect">
            <a:avLst>
              <a:gd name="adj" fmla="val 7805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90500" dist="107763" dir="2700000">
              <a:srgbClr val="000000">
                <a:alpha val="5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628650" y="1611585"/>
            <a:ext cx="4484047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10" kern="0" dirty="0">
                <a:solidFill>
                  <a:srgbClr val="B5BEC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ДИНАМИКА ПОСТУПЛЕНИЙ · 30 ДНЕЙ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628650" y="1855477"/>
            <a:ext cx="57150" cy="57150"/>
          </a:xfrm>
          <a:prstGeom prst="roundRect">
            <a:avLst>
              <a:gd name="adj" fmla="val 66667"/>
            </a:avLst>
          </a:prstGeom>
          <a:solidFill>
            <a:srgbClr val="5ECE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28650" y="1826902"/>
            <a:ext cx="752869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C9D2D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Поступления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399617" y="1855477"/>
            <a:ext cx="57150" cy="57150"/>
          </a:xfrm>
          <a:prstGeom prst="roundRect">
            <a:avLst>
              <a:gd name="adj" fmla="val 66667"/>
            </a:avLst>
          </a:prstGeom>
          <a:solidFill>
            <a:srgbClr val="386B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1399617" y="1826902"/>
            <a:ext cx="589074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C9D2D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Выписки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1988418" y="1855477"/>
            <a:ext cx="57150" cy="57150"/>
          </a:xfrm>
          <a:prstGeom prst="roundRect">
            <a:avLst>
              <a:gd name="adj" fmla="val 66667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1988418" y="1826902"/>
            <a:ext cx="882250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C9D2D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Выздоровления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2869778" y="1855477"/>
            <a:ext cx="57150" cy="57150"/>
          </a:xfrm>
          <a:prstGeom prst="roundRect">
            <a:avLst>
              <a:gd name="adj" fmla="val 66667"/>
            </a:avLst>
          </a:prstGeom>
          <a:solidFill>
            <a:srgbClr val="C9A9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2869778" y="1826902"/>
            <a:ext cx="2133191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C9D2D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Премиум-показатель</a:t>
            </a:r>
            <a:endParaRPr lang="en-US" sz="8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048694"/>
            <a:ext cx="4374319" cy="171282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8650" y="3890107"/>
            <a:ext cx="867787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1 248</a:t>
            </a:r>
            <a:endParaRPr lang="en-US" sz="1238" dirty="0"/>
          </a:p>
        </p:txBody>
      </p:sp>
      <p:sp>
        <p:nvSpPr>
          <p:cNvPr id="20" name="Text 15"/>
          <p:cNvSpPr/>
          <p:nvPr/>
        </p:nvSpPr>
        <p:spPr>
          <a:xfrm>
            <a:off x="628650" y="4075844"/>
            <a:ext cx="635654" cy="1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9CA9B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Поступления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1342467" y="3890107"/>
            <a:ext cx="78742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1 102</a:t>
            </a:r>
            <a:endParaRPr lang="en-US" sz="1238" dirty="0"/>
          </a:p>
        </p:txBody>
      </p:sp>
      <p:sp>
        <p:nvSpPr>
          <p:cNvPr id="22" name="Text 17"/>
          <p:cNvSpPr/>
          <p:nvPr/>
        </p:nvSpPr>
        <p:spPr>
          <a:xfrm>
            <a:off x="1342467" y="4075844"/>
            <a:ext cx="629936" cy="1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9CA9B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Выписки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2006054" y="3890107"/>
            <a:ext cx="1044416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987</a:t>
            </a:r>
            <a:endParaRPr lang="en-US" sz="1238" dirty="0"/>
          </a:p>
        </p:txBody>
      </p:sp>
      <p:sp>
        <p:nvSpPr>
          <p:cNvPr id="24" name="Text 19"/>
          <p:cNvSpPr/>
          <p:nvPr/>
        </p:nvSpPr>
        <p:spPr>
          <a:xfrm>
            <a:off x="2006054" y="4075844"/>
            <a:ext cx="765035" cy="1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9CA9B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Выздоровления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2830264" y="3890107"/>
            <a:ext cx="1060847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94%</a:t>
            </a:r>
            <a:endParaRPr lang="en-US" sz="1238" dirty="0"/>
          </a:p>
        </p:txBody>
      </p:sp>
      <p:sp>
        <p:nvSpPr>
          <p:cNvPr id="26" name="Text 21"/>
          <p:cNvSpPr/>
          <p:nvPr/>
        </p:nvSpPr>
        <p:spPr>
          <a:xfrm>
            <a:off x="2830264" y="4075844"/>
            <a:ext cx="777070" cy="1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9CA9B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Эффективность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5317294" y="1440135"/>
            <a:ext cx="3369394" cy="1407319"/>
          </a:xfrm>
          <a:prstGeom prst="roundRect">
            <a:avLst>
              <a:gd name="adj" fmla="val 16244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90500" dist="107763" dir="2700000">
              <a:srgbClr val="000000">
                <a:alpha val="5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5474457" y="1597298"/>
            <a:ext cx="3055069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Правила для графиков</a:t>
            </a:r>
            <a:endParaRPr lang="en-US" sz="844" dirty="0"/>
          </a:p>
        </p:txBody>
      </p:sp>
      <p:sp>
        <p:nvSpPr>
          <p:cNvPr id="29" name="Text 24"/>
          <p:cNvSpPr/>
          <p:nvPr/>
        </p:nvSpPr>
        <p:spPr>
          <a:xfrm>
            <a:off x="5474457" y="1884834"/>
            <a:ext cx="42863" cy="42863"/>
          </a:xfrm>
          <a:prstGeom prst="ellipse">
            <a:avLst/>
          </a:prstGeom>
          <a:solidFill>
            <a:srgbClr val="5ECE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5588757" y="1834828"/>
            <a:ext cx="2940769" cy="186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00" dirty="0">
                <a:solidFill>
                  <a:srgbClr val="C9D2D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Толщина линии — не более 2 пикселей.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5474457" y="2073362"/>
            <a:ext cx="42863" cy="42863"/>
          </a:xfrm>
          <a:prstGeom prst="ellipse">
            <a:avLst/>
          </a:prstGeom>
          <a:solidFill>
            <a:srgbClr val="5ECE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5588757" y="2023356"/>
            <a:ext cx="2940769" cy="186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00" dirty="0">
                <a:solidFill>
                  <a:srgbClr val="C9D2D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Цвета — только из палитры: Tiffany, Info, Success, Gold.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5474457" y="2261890"/>
            <a:ext cx="42863" cy="42863"/>
          </a:xfrm>
          <a:prstGeom prst="ellipse">
            <a:avLst/>
          </a:prstGeom>
          <a:solidFill>
            <a:srgbClr val="5ECE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5588757" y="2211884"/>
            <a:ext cx="2940769" cy="372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00" dirty="0">
                <a:solidFill>
                  <a:srgbClr val="C9D2D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Свечение в тёмной теме — микроподсветка снизу для читаемости.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5474457" y="2596083"/>
            <a:ext cx="42863" cy="42863"/>
          </a:xfrm>
          <a:prstGeom prst="ellipse">
            <a:avLst/>
          </a:prstGeom>
          <a:solidFill>
            <a:srgbClr val="5ECE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5588757" y="2546077"/>
            <a:ext cx="2940769" cy="144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00" dirty="0">
                <a:solidFill>
                  <a:srgbClr val="C9D2D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Никаких кислотных и нестандартных оттенков.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5317294" y="2961754"/>
            <a:ext cx="3369394" cy="1407319"/>
          </a:xfrm>
          <a:prstGeom prst="roundRect">
            <a:avLst>
              <a:gd name="adj" fmla="val 16244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90500" dist="107763" dir="2700000">
              <a:srgbClr val="000000">
                <a:alpha val="5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5474457" y="3118917"/>
            <a:ext cx="3055069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Иконки (Line Art)</a:t>
            </a:r>
            <a:endParaRPr lang="en-US" sz="844" dirty="0"/>
          </a:p>
        </p:txBody>
      </p:sp>
      <p:sp>
        <p:nvSpPr>
          <p:cNvPr id="39" name="Text 34"/>
          <p:cNvSpPr/>
          <p:nvPr/>
        </p:nvSpPr>
        <p:spPr>
          <a:xfrm>
            <a:off x="5478028" y="3374306"/>
            <a:ext cx="335756" cy="335756"/>
          </a:xfrm>
          <a:prstGeom prst="roundRect">
            <a:avLst>
              <a:gd name="adj" fmla="val 28369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5"/>
          <p:cNvSpPr/>
          <p:nvPr/>
        </p:nvSpPr>
        <p:spPr>
          <a:xfrm>
            <a:off x="5531964" y="342824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5ECEC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♡</a:t>
            </a:r>
            <a:endParaRPr lang="en-US" sz="1547" dirty="0"/>
          </a:p>
        </p:txBody>
      </p:sp>
      <p:sp>
        <p:nvSpPr>
          <p:cNvPr id="41" name="Text 36"/>
          <p:cNvSpPr/>
          <p:nvPr/>
        </p:nvSpPr>
        <p:spPr>
          <a:xfrm>
            <a:off x="6520123" y="3374306"/>
            <a:ext cx="335756" cy="335756"/>
          </a:xfrm>
          <a:prstGeom prst="roundRect">
            <a:avLst>
              <a:gd name="adj" fmla="val 28369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7"/>
          <p:cNvSpPr/>
          <p:nvPr/>
        </p:nvSpPr>
        <p:spPr>
          <a:xfrm>
            <a:off x="6574058" y="342824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5ECEC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547" dirty="0"/>
          </a:p>
        </p:txBody>
      </p:sp>
      <p:sp>
        <p:nvSpPr>
          <p:cNvPr id="43" name="Text 38"/>
          <p:cNvSpPr/>
          <p:nvPr/>
        </p:nvSpPr>
        <p:spPr>
          <a:xfrm>
            <a:off x="7562329" y="3374306"/>
            <a:ext cx="335756" cy="335756"/>
          </a:xfrm>
          <a:prstGeom prst="roundRect">
            <a:avLst>
              <a:gd name="adj" fmla="val 28369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9"/>
          <p:cNvSpPr/>
          <p:nvPr/>
        </p:nvSpPr>
        <p:spPr>
          <a:xfrm>
            <a:off x="7616264" y="342824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5ECEC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547" dirty="0"/>
          </a:p>
        </p:txBody>
      </p:sp>
      <p:sp>
        <p:nvSpPr>
          <p:cNvPr id="45" name="Text 40"/>
          <p:cNvSpPr/>
          <p:nvPr/>
        </p:nvSpPr>
        <p:spPr>
          <a:xfrm>
            <a:off x="5478028" y="3788643"/>
            <a:ext cx="335756" cy="335756"/>
          </a:xfrm>
          <a:prstGeom prst="roundRect">
            <a:avLst>
              <a:gd name="adj" fmla="val 28369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1"/>
          <p:cNvSpPr/>
          <p:nvPr/>
        </p:nvSpPr>
        <p:spPr>
          <a:xfrm>
            <a:off x="5531964" y="384257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5ECEC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47" name="Text 42"/>
          <p:cNvSpPr/>
          <p:nvPr/>
        </p:nvSpPr>
        <p:spPr>
          <a:xfrm>
            <a:off x="6520123" y="3788643"/>
            <a:ext cx="335756" cy="335756"/>
          </a:xfrm>
          <a:prstGeom prst="roundRect">
            <a:avLst>
              <a:gd name="adj" fmla="val 28369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3"/>
          <p:cNvSpPr/>
          <p:nvPr/>
        </p:nvSpPr>
        <p:spPr>
          <a:xfrm>
            <a:off x="6574058" y="384257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5ECEC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49" name="Text 44"/>
          <p:cNvSpPr/>
          <p:nvPr/>
        </p:nvSpPr>
        <p:spPr>
          <a:xfrm>
            <a:off x="7562329" y="3788643"/>
            <a:ext cx="335756" cy="335756"/>
          </a:xfrm>
          <a:prstGeom prst="roundRect">
            <a:avLst>
              <a:gd name="adj" fmla="val 28369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5"/>
          <p:cNvSpPr/>
          <p:nvPr/>
        </p:nvSpPr>
        <p:spPr>
          <a:xfrm>
            <a:off x="7616264" y="384257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5ECEC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547" dirty="0"/>
          </a:p>
        </p:txBody>
      </p:sp>
      <p:sp>
        <p:nvSpPr>
          <p:cNvPr id="51" name="Text 46"/>
          <p:cNvSpPr/>
          <p:nvPr/>
        </p:nvSpPr>
        <p:spPr>
          <a:xfrm>
            <a:off x="5474457" y="4199409"/>
            <a:ext cx="305506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CA9B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Толщина штриха 1.5–2px. Скруглённые концы и стыки (Round caps). Полное отсутствие острых углов в микро-графике.</a:t>
            </a:r>
            <a:endParaRPr lang="en-US" sz="800" dirty="0"/>
          </a:p>
        </p:txBody>
      </p:sp>
      <p:sp>
        <p:nvSpPr>
          <p:cNvPr id="52" name="Text 47"/>
          <p:cNvSpPr/>
          <p:nvPr/>
        </p:nvSpPr>
        <p:spPr>
          <a:xfrm>
            <a:off x="257175" y="200025"/>
            <a:ext cx="2478848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32" kern="0" dirty="0">
                <a:solidFill>
                  <a:srgbClr val="9CA9B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МИС АЛЬТЕРА · BRAND BOOK</a:t>
            </a:r>
            <a:endParaRPr lang="en-US" sz="800" dirty="0"/>
          </a:p>
        </p:txBody>
      </p:sp>
      <p:sp>
        <p:nvSpPr>
          <p:cNvPr id="53" name="Text 48"/>
          <p:cNvSpPr/>
          <p:nvPr/>
        </p:nvSpPr>
        <p:spPr>
          <a:xfrm>
            <a:off x="8508095" y="4799595"/>
            <a:ext cx="542768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59" kern="0" dirty="0">
                <a:solidFill>
                  <a:srgbClr val="9CA9B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-714375" y="3571875"/>
            <a:ext cx="2286000" cy="228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714375" y="3571875"/>
            <a:ext cx="2286000" cy="228600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400050"/>
            <a:ext cx="86360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61" kern="0" dirty="0">
                <a:solidFill>
                  <a:srgbClr val="46B0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— TONE OF VOICE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" y="615367"/>
            <a:ext cx="8636000" cy="311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8"/>
              </a:lnSpc>
              <a:buNone/>
            </a:pPr>
            <a:r>
              <a:rPr lang="en-US" sz="2025" b="1" dirty="0">
                <a:solidFill>
                  <a:srgbClr val="1A1F2E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Голос бренда и Tone of Voice.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457200" y="974787"/>
            <a:ext cx="585787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Общение с врачом на равных. Уважение к профессионализму, без излишней формальности и бюрократизма.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301167"/>
            <a:ext cx="1982391" cy="928688"/>
          </a:xfrm>
          <a:prstGeom prst="roundRect">
            <a:avLst>
              <a:gd name="adj" fmla="val 20513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85788" y="1429755"/>
            <a:ext cx="257175" cy="128588"/>
          </a:xfrm>
          <a:prstGeom prst="roundRect">
            <a:avLst>
              <a:gd name="adj" fmla="val 711108"/>
            </a:avLst>
          </a:prstGeom>
          <a:solidFill>
            <a:srgbClr val="5ECEC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0081" y="142975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6B0A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✻</a:t>
            </a:r>
            <a:endParaRPr lang="en-US" sz="1266" dirty="0"/>
          </a:p>
        </p:txBody>
      </p:sp>
      <p:sp>
        <p:nvSpPr>
          <p:cNvPr id="10" name="Text 7"/>
          <p:cNvSpPr/>
          <p:nvPr/>
        </p:nvSpPr>
        <p:spPr>
          <a:xfrm>
            <a:off x="585788" y="1629780"/>
            <a:ext cx="1725216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1A1F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Вы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85788" y="1856147"/>
            <a:ext cx="1725216" cy="24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Только уважительное обращение. Без панибратства.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539603" y="1301167"/>
            <a:ext cx="1982391" cy="928688"/>
          </a:xfrm>
          <a:prstGeom prst="roundRect">
            <a:avLst>
              <a:gd name="adj" fmla="val 20513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668191" y="1429755"/>
            <a:ext cx="257175" cy="128588"/>
          </a:xfrm>
          <a:prstGeom prst="roundRect">
            <a:avLst>
              <a:gd name="adj" fmla="val 711108"/>
            </a:avLst>
          </a:prstGeom>
          <a:solidFill>
            <a:srgbClr val="5ECEC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732484" y="142975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6B0A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266" dirty="0"/>
          </a:p>
        </p:txBody>
      </p:sp>
      <p:sp>
        <p:nvSpPr>
          <p:cNvPr id="15" name="Text 12"/>
          <p:cNvSpPr/>
          <p:nvPr/>
        </p:nvSpPr>
        <p:spPr>
          <a:xfrm>
            <a:off x="2668191" y="1629780"/>
            <a:ext cx="1725216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1A1F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равных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668191" y="1856147"/>
            <a:ext cx="1725216" cy="24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даём инструкции — просим помощи. Коллеги, а не пользователи.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622006" y="1301167"/>
            <a:ext cx="1982391" cy="928688"/>
          </a:xfrm>
          <a:prstGeom prst="roundRect">
            <a:avLst>
              <a:gd name="adj" fmla="val 20513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750594" y="1429755"/>
            <a:ext cx="257175" cy="128588"/>
          </a:xfrm>
          <a:prstGeom prst="roundRect">
            <a:avLst>
              <a:gd name="adj" fmla="val 711108"/>
            </a:avLst>
          </a:prstGeom>
          <a:solidFill>
            <a:srgbClr val="5ECEC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814888" y="142975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6B0A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266" dirty="0"/>
          </a:p>
        </p:txBody>
      </p:sp>
      <p:sp>
        <p:nvSpPr>
          <p:cNvPr id="20" name="Text 17"/>
          <p:cNvSpPr/>
          <p:nvPr/>
        </p:nvSpPr>
        <p:spPr>
          <a:xfrm>
            <a:off x="4750594" y="1629780"/>
            <a:ext cx="1725216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1A1F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Простота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750594" y="1856147"/>
            <a:ext cx="1725216" cy="24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 сложных аббревиатур. Одно предложение — одна мысль.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704409" y="1301167"/>
            <a:ext cx="1982391" cy="928688"/>
          </a:xfrm>
          <a:prstGeom prst="roundRect">
            <a:avLst>
              <a:gd name="adj" fmla="val 20513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832997" y="1429755"/>
            <a:ext cx="257175" cy="128588"/>
          </a:xfrm>
          <a:prstGeom prst="roundRect">
            <a:avLst>
              <a:gd name="adj" fmla="val 711108"/>
            </a:avLst>
          </a:prstGeom>
          <a:solidFill>
            <a:srgbClr val="5ECEC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897291" y="142975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6B0A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5" name="Text 22"/>
          <p:cNvSpPr/>
          <p:nvPr/>
        </p:nvSpPr>
        <p:spPr>
          <a:xfrm>
            <a:off x="6832997" y="1629780"/>
            <a:ext cx="1725216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1A1F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 паники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832997" y="1856147"/>
            <a:ext cx="1725216" cy="24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A54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пишем «Ошибка!». Пишем «Что-то пошло не так. Проверьте соединение.»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57200" y="2401305"/>
            <a:ext cx="8229600" cy="1571625"/>
          </a:xfrm>
          <a:prstGeom prst="roundRect">
            <a:avLst>
              <a:gd name="adj" fmla="val 14545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90500" dist="107763" dir="2700000">
              <a:srgbClr val="AEB8C8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714375" y="2515605"/>
            <a:ext cx="394335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4500" b="1" dirty="0">
                <a:solidFill>
                  <a:srgbClr val="5ECEC1">
                    <a:alpha val="40000"/>
                  </a:srgbClr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«</a:t>
            </a:r>
            <a:endParaRPr lang="en-US" sz="4500" dirty="0"/>
          </a:p>
        </p:txBody>
      </p:sp>
      <p:sp>
        <p:nvSpPr>
          <p:cNvPr id="29" name="Text 26"/>
          <p:cNvSpPr/>
          <p:nvPr/>
        </p:nvSpPr>
        <p:spPr>
          <a:xfrm>
            <a:off x="714375" y="2629905"/>
            <a:ext cx="6286500" cy="646393"/>
          </a:xfrm>
          <a:prstGeom prst="rect">
            <a:avLst/>
          </a:prstGeom>
          <a:noFill/>
          <a:ln/>
        </p:spPr>
        <p:txBody>
          <a:bodyPr wrap="square" lIns="428625" tIns="142875" rIns="285750" bIns="0" rtlCol="0" anchor="t"/>
          <a:lstStyle/>
          <a:p>
            <a:pPr algn="l" indent="0" marL="0">
              <a:lnSpc>
                <a:spcPts val="1794"/>
              </a:lnSpc>
              <a:buNone/>
            </a:pPr>
            <a:r>
              <a:rPr lang="en-US" sz="1238" i="1" dirty="0">
                <a:solidFill>
                  <a:srgbClr val="1A1F2E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Коллеги, нам очень нужна ваша помощь. Мы создаём новую систему взамен устаревшей — понятную, логичную и действительно помогающую в работе.</a:t>
            </a:r>
            <a:endParaRPr lang="en-US" sz="1238" dirty="0"/>
          </a:p>
        </p:txBody>
      </p:sp>
      <p:sp>
        <p:nvSpPr>
          <p:cNvPr id="30" name="Text 27"/>
          <p:cNvSpPr/>
          <p:nvPr/>
        </p:nvSpPr>
        <p:spPr>
          <a:xfrm>
            <a:off x="6566557" y="3657600"/>
            <a:ext cx="19727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Пример тональности в интерфейсе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257175" y="200025"/>
            <a:ext cx="2478848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32" kern="0" dirty="0">
                <a:solidFill>
                  <a:srgbClr val="8B95A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МИС АЛЬТЕРА · BRAND BOOK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8508095" y="4799595"/>
            <a:ext cx="542768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59" kern="0" dirty="0">
                <a:solidFill>
                  <a:srgbClr val="8B95A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/ 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2p-fit-1786014517824-4yjs8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897250" y="571500"/>
            <a:ext cx="1878503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spc="203" kern="0" dirty="0">
                <a:solidFill>
                  <a:srgbClr val="F5EFE6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 — ЗАКЛЮЧЕНИЕ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075509" y="879351"/>
            <a:ext cx="992981" cy="992981"/>
          </a:xfrm>
          <a:prstGeom prst="ellipse">
            <a:avLst/>
          </a:prstGeom>
          <a:solidFill>
            <a:srgbClr val="FFFFFF">
              <a:alpha val="18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199096" y="1002938"/>
            <a:ext cx="745807" cy="74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5ECEC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4800" dirty="0"/>
          </a:p>
        </p:txBody>
      </p:sp>
      <p:sp>
        <p:nvSpPr>
          <p:cNvPr id="7" name="Text 3"/>
          <p:cNvSpPr/>
          <p:nvPr/>
        </p:nvSpPr>
        <p:spPr>
          <a:xfrm>
            <a:off x="274320" y="2075929"/>
            <a:ext cx="8595360" cy="543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Спасибо за внимание!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4286250" y="2750232"/>
            <a:ext cx="571500" cy="7144"/>
          </a:xfrm>
          <a:prstGeom prst="rect">
            <a:avLst/>
          </a:prstGeom>
          <a:solidFill>
            <a:srgbClr val="5ECE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2071688" y="2928826"/>
            <a:ext cx="5000625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5EFE6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 всем вопросам о брендинге и соблюдению правил обращайтесь в отдел маркетинга и дизайна.</a:t>
            </a:r>
            <a:endParaRPr lang="en-US" sz="1013" dirty="0"/>
          </a:p>
        </p:txBody>
      </p:sp>
      <p:sp>
        <p:nvSpPr>
          <p:cNvPr id="10" name="Text 6"/>
          <p:cNvSpPr/>
          <p:nvPr/>
        </p:nvSpPr>
        <p:spPr>
          <a:xfrm>
            <a:off x="3660391" y="3657488"/>
            <a:ext cx="510064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spc="113" kern="0" dirty="0">
                <a:solidFill>
                  <a:srgbClr val="5ECEC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EMAIL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3302422" y="3811079"/>
            <a:ext cx="1212701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brand@altera-mis.ru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5045050" y="3657488"/>
            <a:ext cx="734504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spc="113" kern="0" dirty="0">
                <a:solidFill>
                  <a:srgbClr val="5ECEC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INTRANET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4765774" y="3811079"/>
            <a:ext cx="1183262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design.altera-internal</a:t>
            </a:r>
            <a:endParaRPr lang="en-US" sz="788" dirty="0"/>
          </a:p>
        </p:txBody>
      </p:sp>
      <p:sp>
        <p:nvSpPr>
          <p:cNvPr id="14" name="Text 10"/>
          <p:cNvSpPr/>
          <p:nvPr/>
        </p:nvSpPr>
        <p:spPr>
          <a:xfrm>
            <a:off x="0" y="4821696"/>
            <a:ext cx="8636000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9"/>
              </a:lnSpc>
              <a:buNone/>
            </a:pPr>
            <a:r>
              <a:rPr lang="en-US" sz="800" spc="111" kern="0" dirty="0">
                <a:solidFill>
                  <a:srgbClr val="F5EFE6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МИС АЛЬТЕРА · БРЕНД-БУК ·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2026-08-06T11:08:38Z</dcterms:created>
  <dcterms:modified xsi:type="dcterms:W3CDTF">2026-08-06T11:08:38Z</dcterms:modified>
</cp:coreProperties>
</file>