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download/slides/bg_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34085" y="1001241"/>
            <a:ext cx="1775799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BRAND BOOK · 2025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3932523" y="1337667"/>
            <a:ext cx="1278731" cy="127873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074683" y="1479828"/>
            <a:ext cx="994410" cy="994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3832622" y="2748558"/>
            <a:ext cx="2217967" cy="33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spc="630" kern="0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АЛЬТЕРА</a:t>
            </a:r>
            <a:endParaRPr lang="en-US" sz="1575" dirty="0"/>
          </a:p>
        </p:txBody>
      </p:sp>
      <p:sp>
        <p:nvSpPr>
          <p:cNvPr id="8" name="Text 4"/>
          <p:cNvSpPr/>
          <p:nvPr/>
        </p:nvSpPr>
        <p:spPr>
          <a:xfrm>
            <a:off x="274320" y="3258555"/>
            <a:ext cx="8595248" cy="475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65"/>
              </a:lnSpc>
              <a:buNone/>
            </a:pPr>
            <a:r>
              <a:rPr lang="en-US" sz="3150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МИС Альтера. Бренд-бук.</a:t>
            </a:r>
            <a:endParaRPr lang="en-US" sz="3150" dirty="0"/>
          </a:p>
        </p:txBody>
      </p:sp>
      <p:sp>
        <p:nvSpPr>
          <p:cNvPr id="9" name="Text 5"/>
          <p:cNvSpPr/>
          <p:nvPr/>
        </p:nvSpPr>
        <p:spPr>
          <a:xfrm>
            <a:off x="3205075" y="3898590"/>
            <a:ext cx="2733851" cy="263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8"/>
              </a:lnSpc>
              <a:buNone/>
            </a:pPr>
            <a:r>
              <a:rPr lang="en-US" sz="1238" i="1" dirty="0">
                <a:solidFill>
                  <a:srgbClr val="F5EFE6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Технологии, которые заботятся.</a:t>
            </a:r>
            <a:endParaRPr lang="en-US" sz="1238" dirty="0"/>
          </a:p>
        </p:txBody>
      </p:sp>
      <p:sp>
        <p:nvSpPr>
          <p:cNvPr id="10" name="Text 6"/>
          <p:cNvSpPr/>
          <p:nvPr/>
        </p:nvSpPr>
        <p:spPr>
          <a:xfrm>
            <a:off x="4286250" y="4503465"/>
            <a:ext cx="571500" cy="7144"/>
          </a:xfrm>
          <a:prstGeom prst="rect">
            <a:avLst/>
          </a:prstGeom>
          <a:solidFill>
            <a:srgbClr val="5ECEC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3486277" y="4610621"/>
            <a:ext cx="2171335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spc="135" kern="0" dirty="0">
                <a:solidFill>
                  <a:srgbClr val="F5EFE6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ОТДЕЛ ДИЗАЙНА И МАРКЕТИНГА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572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1463799"/>
            <a:ext cx="470833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02 — ФИЛОСОФИЯ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1736266"/>
            <a:ext cx="3600450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Идеология бренда.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457200" y="2224832"/>
            <a:ext cx="3429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403425"/>
            <a:ext cx="3429000" cy="789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Медицинская Информационная Система должна быть не просто инструментом, а надёжным и спокойным помощником. Доверие к системе строится через прозрачность и интуитивность.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3334792"/>
            <a:ext cx="44889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КЛЮЧЕВЫЕ СЛОВА: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3551595"/>
            <a:ext cx="64215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57200" y="3564396"/>
            <a:ext cx="64215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Медицина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56506" y="3551595"/>
            <a:ext cx="50374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156506" y="3564396"/>
            <a:ext cx="50374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Забота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717402" y="3551595"/>
            <a:ext cx="691493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717402" y="3564396"/>
            <a:ext cx="691493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Технология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66045" y="3551595"/>
            <a:ext cx="553864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466045" y="3564396"/>
            <a:ext cx="553864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Ясность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077059" y="3551595"/>
            <a:ext cx="570830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077059" y="3564396"/>
            <a:ext cx="570830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Доверие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43400" y="1387004"/>
            <a:ext cx="4560570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Характер бренда</a:t>
            </a:r>
            <a:endParaRPr lang="en-US" sz="1238" dirty="0"/>
          </a:p>
        </p:txBody>
      </p:sp>
      <p:sp>
        <p:nvSpPr>
          <p:cNvPr id="20" name="Text 17"/>
          <p:cNvSpPr/>
          <p:nvPr/>
        </p:nvSpPr>
        <p:spPr>
          <a:xfrm>
            <a:off x="4343400" y="1705794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514850" y="1862956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543782" y="189188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4900613" y="1862956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Дружелюбный, но без панибратства</a:t>
            </a:r>
            <a:endParaRPr lang="en-US" sz="844" dirty="0"/>
          </a:p>
        </p:txBody>
      </p:sp>
      <p:sp>
        <p:nvSpPr>
          <p:cNvPr id="24" name="Text 21"/>
          <p:cNvSpPr/>
          <p:nvPr/>
        </p:nvSpPr>
        <p:spPr>
          <a:xfrm>
            <a:off x="4900613" y="2170137"/>
            <a:ext cx="1469041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Тёплый тон общения, сохраняющий профессиональную дистанцию.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572250" y="1705794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743700" y="1862956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772632" y="189188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28" name="Text 25"/>
          <p:cNvSpPr/>
          <p:nvPr/>
        </p:nvSpPr>
        <p:spPr>
          <a:xfrm>
            <a:off x="7129463" y="1862956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Экспертный</a:t>
            </a:r>
            <a:endParaRPr lang="en-US" sz="844" dirty="0"/>
          </a:p>
        </p:txBody>
      </p:sp>
      <p:sp>
        <p:nvSpPr>
          <p:cNvPr id="29" name="Text 26"/>
          <p:cNvSpPr/>
          <p:nvPr/>
        </p:nvSpPr>
        <p:spPr>
          <a:xfrm>
            <a:off x="7129463" y="2030834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Уважение к профессионализму врача в каждой детали интерфейса.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43400" y="2845445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514850" y="3002607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543782" y="303154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3" name="Text 30"/>
          <p:cNvSpPr/>
          <p:nvPr/>
        </p:nvSpPr>
        <p:spPr>
          <a:xfrm>
            <a:off x="4900613" y="3002607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Современный и технологичный</a:t>
            </a:r>
            <a:endParaRPr lang="en-US" sz="844" dirty="0"/>
          </a:p>
        </p:txBody>
      </p:sp>
      <p:sp>
        <p:nvSpPr>
          <p:cNvPr id="34" name="Text 31"/>
          <p:cNvSpPr/>
          <p:nvPr/>
        </p:nvSpPr>
        <p:spPr>
          <a:xfrm>
            <a:off x="4900613" y="3309789"/>
            <a:ext cx="1469041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Скрывает сложность за простым и предсказуемым интерфейсом.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72250" y="2845445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6743700" y="3002607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6772632" y="303154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8" name="Text 35"/>
          <p:cNvSpPr/>
          <p:nvPr/>
        </p:nvSpPr>
        <p:spPr>
          <a:xfrm>
            <a:off x="7129463" y="3002607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Спокойный</a:t>
            </a:r>
            <a:endParaRPr lang="en-US" sz="844" dirty="0"/>
          </a:p>
        </p:txBody>
      </p:sp>
      <p:sp>
        <p:nvSpPr>
          <p:cNvPr id="39" name="Text 36"/>
          <p:cNvSpPr/>
          <p:nvPr/>
        </p:nvSpPr>
        <p:spPr>
          <a:xfrm>
            <a:off x="7129463" y="3170486"/>
            <a:ext cx="1469041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Снижает уровень стресса при длительной работе в системе.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7858125" y="-571500"/>
            <a:ext cx="1714500" cy="1714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03 — ФИРМЕННЫЙ ЗНАК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43942"/>
            <a:ext cx="8636000" cy="33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Логотип: Символ целостности.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41760"/>
            <a:ext cx="5572125" cy="5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Логотип представляет собой сферический знак с тремя диагональными изогнутыми линиями. Метафора: земной шар, круговорот данных, непрерывное взаимодействие между пациентом, врачом и системой. Линии динамичны, но сбалансированы — спокойствие и уверенность.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457200" y="1768636"/>
            <a:ext cx="3600450" cy="2571750"/>
          </a:xfrm>
          <a:prstGeom prst="roundRect">
            <a:avLst>
              <a:gd name="adj" fmla="val 888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43050" y="2207754"/>
            <a:ext cx="1428750" cy="1428750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304800" dist="1143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687711" y="2352415"/>
            <a:ext cx="1139428" cy="11394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561271" y="3779379"/>
            <a:ext cx="1392307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ОСНОВНАЯ ВЕРСИЯ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0" y="1768636"/>
            <a:ext cx="4620578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Основные правила</a:t>
            </a:r>
            <a:endParaRPr lang="en-US" sz="1238" dirty="0"/>
          </a:p>
        </p:txBody>
      </p:sp>
      <p:sp>
        <p:nvSpPr>
          <p:cNvPr id="12" name="Text 9"/>
          <p:cNvSpPr/>
          <p:nvPr/>
        </p:nvSpPr>
        <p:spPr>
          <a:xfrm>
            <a:off x="4286250" y="2073139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429125" y="2187439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450199" y="220851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4757738" y="2187439"/>
            <a:ext cx="3067180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Цветная версия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57738" y="2363800"/>
            <a:ext cx="2921124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31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Tiffany #5ECEC1 на светлом фоне. Основная для цифровой среды.</a:t>
            </a:r>
            <a:endParaRPr lang="en-US" sz="731" dirty="0"/>
          </a:p>
        </p:txBody>
      </p:sp>
      <p:sp>
        <p:nvSpPr>
          <p:cNvPr id="17" name="Text 14"/>
          <p:cNvSpPr/>
          <p:nvPr/>
        </p:nvSpPr>
        <p:spPr>
          <a:xfrm>
            <a:off x="4286250" y="2698440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29125" y="2812740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450199" y="2833814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7738" y="2812740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Монохром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7738" y="2989101"/>
            <a:ext cx="2961308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31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Чёрный/тёмно-серый на белой бумаге. Белый на тёмных носителях.</a:t>
            </a:r>
            <a:endParaRPr lang="en-US" sz="731" dirty="0"/>
          </a:p>
        </p:txBody>
      </p:sp>
      <p:sp>
        <p:nvSpPr>
          <p:cNvPr id="22" name="Text 19"/>
          <p:cNvSpPr/>
          <p:nvPr/>
        </p:nvSpPr>
        <p:spPr>
          <a:xfrm>
            <a:off x="4286250" y="3323741"/>
            <a:ext cx="4400550" cy="674191"/>
          </a:xfrm>
          <a:prstGeom prst="roundRect">
            <a:avLst>
              <a:gd name="adj" fmla="val 282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429125" y="3438041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450199" y="3459115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4757738" y="3438041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Минимальные размеры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57738" y="3614403"/>
            <a:ext cx="37861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Печать — 16 мм. Интерфейс — 48 пикселей. Меньше — нельзя: теряется читаемость линий.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7715250" y="3857625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0" y="3857625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4873823" y="2976042"/>
            <a:ext cx="0" cy="668387"/>
          </a:xfrm>
          <a:prstGeom prst="line">
            <a:avLst/>
          </a:prstGeom>
          <a:noFill/>
          <a:ln w="21431">
            <a:solidFill>
              <a:srgbClr val="F35E6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04 — ОХРАННОЕ ПОЛЕ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Правила размещения и защитная зона.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Логотип должен легко идентифицироваться. Запрещено загромождать пространство вокруг него.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351731"/>
            <a:ext cx="4205883" cy="2714625"/>
          </a:xfrm>
          <a:prstGeom prst="roundRect">
            <a:avLst>
              <a:gd name="adj" fmla="val 842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85800" y="1580331"/>
            <a:ext cx="3858411" cy="12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ОХРАННОЕ ПОЛЕ = РАДИУС ЛОГОТИПА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710035" y="1936403"/>
            <a:ext cx="1700213" cy="1700213"/>
          </a:xfrm>
          <a:prstGeom prst="ellipse">
            <a:avLst/>
          </a:prstGeom>
          <a:noFill/>
          <a:ln w="14288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131516" y="2357884"/>
            <a:ext cx="857250" cy="8572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228671" y="2455039"/>
            <a:ext cx="662940" cy="662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2988766" y="272935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4" name="Text 11"/>
          <p:cNvSpPr/>
          <p:nvPr/>
        </p:nvSpPr>
        <p:spPr>
          <a:xfrm>
            <a:off x="3100195" y="2720094"/>
            <a:ext cx="34864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Логотип</a:t>
            </a:r>
            <a:endParaRPr lang="en-US" sz="675" dirty="0"/>
          </a:p>
        </p:txBody>
      </p:sp>
      <p:sp>
        <p:nvSpPr>
          <p:cNvPr id="15" name="Text 12"/>
          <p:cNvSpPr/>
          <p:nvPr/>
        </p:nvSpPr>
        <p:spPr>
          <a:xfrm>
            <a:off x="3374752" y="189566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3298111" y="1886396"/>
            <a:ext cx="55904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≥ R (радиус)</a:t>
            </a:r>
            <a:endParaRPr lang="en-US" sz="675" dirty="0"/>
          </a:p>
        </p:txBody>
      </p:sp>
      <p:sp>
        <p:nvSpPr>
          <p:cNvPr id="17" name="Text 14"/>
          <p:cNvSpPr/>
          <p:nvPr/>
        </p:nvSpPr>
        <p:spPr>
          <a:xfrm>
            <a:off x="4863108" y="1351731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СВЕТЛАЯ / ТЁМНАЯ ТЕМА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863108" y="1578099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995267" y="1681683"/>
            <a:ext cx="278606" cy="278606"/>
          </a:xfrm>
          <a:prstGeom prst="roundRect">
            <a:avLst>
              <a:gd name="adj" fmla="val 27350"/>
            </a:avLst>
          </a:prstGeom>
          <a:solidFill>
            <a:srgbClr val="F9FAFB"/>
          </a:solidFill>
          <a:ln w="7144">
            <a:solidFill>
              <a:srgbClr val="1A1F2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020628" y="170704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1" name="Text 18"/>
          <p:cNvSpPr/>
          <p:nvPr/>
        </p:nvSpPr>
        <p:spPr>
          <a:xfrm>
            <a:off x="5377458" y="1756023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Светлая: #5ECEC1 на #F9FAFB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3108" y="2135312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991695" y="2235324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020628" y="2264256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C9A9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5" name="Text 22"/>
          <p:cNvSpPr/>
          <p:nvPr/>
        </p:nvSpPr>
        <p:spPr>
          <a:xfrm>
            <a:off x="5377458" y="2313236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Тёмная: белый #FFFFFF или золотой #C9A96E на #161B22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863108" y="2749674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F35E6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ЗАПРЕЩЕНО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863108" y="2976042"/>
            <a:ext cx="3823692" cy="668387"/>
          </a:xfrm>
          <a:prstGeom prst="roundRect">
            <a:avLst>
              <a:gd name="adj" fmla="val 2850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58349" y="3090342"/>
            <a:ext cx="629006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Растягивать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013127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0" name="Text 27"/>
          <p:cNvSpPr/>
          <p:nvPr/>
        </p:nvSpPr>
        <p:spPr>
          <a:xfrm>
            <a:off x="7007126" y="3090342"/>
            <a:ext cx="937478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Менять пропорции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6849963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2" name="Text 29"/>
          <p:cNvSpPr/>
          <p:nvPr/>
        </p:nvSpPr>
        <p:spPr>
          <a:xfrm>
            <a:off x="5170289" y="3353098"/>
            <a:ext cx="1488802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Перекрашивать в статусные цвета</a:t>
            </a:r>
            <a:endParaRPr lang="en-US" sz="675" dirty="0"/>
          </a:p>
        </p:txBody>
      </p:sp>
      <p:sp>
        <p:nvSpPr>
          <p:cNvPr id="33" name="Text 30"/>
          <p:cNvSpPr/>
          <p:nvPr/>
        </p:nvSpPr>
        <p:spPr>
          <a:xfrm>
            <a:off x="5013127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4" name="Text 31"/>
          <p:cNvSpPr/>
          <p:nvPr/>
        </p:nvSpPr>
        <p:spPr>
          <a:xfrm>
            <a:off x="7007126" y="3284562"/>
            <a:ext cx="1437568" cy="259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Делать полупрозрачным водяным знаком</a:t>
            </a:r>
            <a:endParaRPr lang="en-US" sz="675" dirty="0"/>
          </a:p>
        </p:txBody>
      </p:sp>
      <p:sp>
        <p:nvSpPr>
          <p:cNvPr id="35" name="Text 32"/>
          <p:cNvSpPr/>
          <p:nvPr/>
        </p:nvSpPr>
        <p:spPr>
          <a:xfrm>
            <a:off x="6849963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6" name="Text 33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82" y="1355303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82" y="1805360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05 — ПАЛИТРА UX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Цветовые пропорции: Интерфейс.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Цвет в интерфейсе не должен отвлекать врача от данных. Яркий цвет используется только как призыв к действию.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60% · Фон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30% · Контейнеры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10% · Акценты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8650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60% — ФОН (БАЗА)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8650" y="2398961"/>
            <a:ext cx="357188" cy="714375"/>
          </a:xfrm>
          <a:prstGeom prst="rect">
            <a:avLst/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85838" y="2398961"/>
            <a:ext cx="357188" cy="714375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43038" y="2609031"/>
            <a:ext cx="698055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Light: #F9FAFB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1418973" y="2770436"/>
            <a:ext cx="74618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#161B22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628650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Фоновое пространство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28650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Умеренный матовый серый. Не бликует и не утомляет глаза при длительной работе.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43263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4713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30% — КОНТЕЙНЕРЫ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14713" y="2398961"/>
            <a:ext cx="357188" cy="7143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771900" y="2398961"/>
            <a:ext cx="357188" cy="7143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9100" y="2609031"/>
            <a:ext cx="697793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Light: #FFFFFF</a:t>
            </a:r>
            <a:endParaRPr lang="en-US" sz="675" dirty="0"/>
          </a:p>
        </p:txBody>
      </p:sp>
      <p:sp>
        <p:nvSpPr>
          <p:cNvPr id="26" name="Text 24"/>
          <p:cNvSpPr/>
          <p:nvPr/>
        </p:nvSpPr>
        <p:spPr>
          <a:xfrm>
            <a:off x="4204904" y="2770436"/>
            <a:ext cx="74618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#21262D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14713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Карточки и панели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3414713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Чистый белый / глубокий тёмно-серый. Формируют структуру интерфейса.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29325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00775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10% — АКЦЕНТЫ И ДЕЙСТВИЯ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00775" y="2398961"/>
            <a:ext cx="714375" cy="714375"/>
          </a:xfrm>
          <a:prstGeom prst="roundRect">
            <a:avLst>
              <a:gd name="adj" fmla="val 18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30077" y="2528262"/>
            <a:ext cx="455771" cy="4557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9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3094" dirty="0"/>
          </a:p>
        </p:txBody>
      </p:sp>
      <p:sp>
        <p:nvSpPr>
          <p:cNvPr id="33" name="Text 31"/>
          <p:cNvSpPr/>
          <p:nvPr/>
        </p:nvSpPr>
        <p:spPr>
          <a:xfrm>
            <a:off x="7015163" y="2609031"/>
            <a:ext cx="798656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Tiffany: #5ECEC1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7015163" y="2770436"/>
            <a:ext cx="87225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 статусы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00775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Точечные действия</a:t>
            </a:r>
            <a:endParaRPr lang="en-US" sz="844" dirty="0"/>
          </a:p>
        </p:txBody>
      </p:sp>
      <p:sp>
        <p:nvSpPr>
          <p:cNvPr id="36" name="Text 34"/>
          <p:cNvSpPr/>
          <p:nvPr/>
        </p:nvSpPr>
        <p:spPr>
          <a:xfrm>
            <a:off x="6200775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Фирменный Тиффани #5ECEC1 и статусы. Строго: кнопки, активные ссылки, иконки с прозрачностью.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358063" y="-857250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857250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06 — СТАТУСЫ И ПОЛИГРАФИЯ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Семантика цвета и полиграфия.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Статусные цвета несут операционный смысл. В полиграфии пропорции инвертируются для премиального ощущения.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23156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СТАТУСНЫЕ ЦВЕТА (ИНТЕРФЕЙС)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27AE60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5721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10" name="Text 7"/>
          <p:cNvSpPr/>
          <p:nvPr/>
        </p:nvSpPr>
        <p:spPr>
          <a:xfrm>
            <a:off x="55721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Успех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5721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#27AE60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84308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2B84B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94310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14" name="Text 11"/>
          <p:cNvSpPr/>
          <p:nvPr/>
        </p:nvSpPr>
        <p:spPr>
          <a:xfrm>
            <a:off x="1943100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Предупреждение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94310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#F2B84B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228975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35E62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28988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547" dirty="0"/>
          </a:p>
        </p:txBody>
      </p:sp>
      <p:sp>
        <p:nvSpPr>
          <p:cNvPr id="18" name="Text 15"/>
          <p:cNvSpPr/>
          <p:nvPr/>
        </p:nvSpPr>
        <p:spPr>
          <a:xfrm>
            <a:off x="3328988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Ошибка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328988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#F35E62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614863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386BF6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14875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547" dirty="0"/>
          </a:p>
        </p:txBody>
      </p:sp>
      <p:sp>
        <p:nvSpPr>
          <p:cNvPr id="22" name="Text 19"/>
          <p:cNvSpPr/>
          <p:nvPr/>
        </p:nvSpPr>
        <p:spPr>
          <a:xfrm>
            <a:off x="4714875" y="1922004"/>
            <a:ext cx="1100137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Информация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4875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#386BF6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00075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8C56FF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0076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6" name="Text 23"/>
          <p:cNvSpPr/>
          <p:nvPr/>
        </p:nvSpPr>
        <p:spPr>
          <a:xfrm>
            <a:off x="610076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Выделение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076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#8C56FF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8663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C9A96E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48665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547" dirty="0"/>
          </a:p>
        </p:txBody>
      </p:sp>
      <p:sp>
        <p:nvSpPr>
          <p:cNvPr id="30" name="Text 27"/>
          <p:cNvSpPr/>
          <p:nvPr/>
        </p:nvSpPr>
        <p:spPr>
          <a:xfrm>
            <a:off x="7486650" y="1859496"/>
            <a:ext cx="1100138" cy="98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486650" y="1985181"/>
            <a:ext cx="1100137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тёмная тема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48665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#C9A96E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57200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28650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Правило для полиграфии (Offline)</a:t>
            </a:r>
            <a:endParaRPr lang="en-US" sz="844" dirty="0"/>
          </a:p>
        </p:txBody>
      </p:sp>
      <p:sp>
        <p:nvSpPr>
          <p:cNvPr id="35" name="Text 32"/>
          <p:cNvSpPr/>
          <p:nvPr/>
        </p:nvSpPr>
        <p:spPr>
          <a:xfrm>
            <a:off x="628650" y="3015779"/>
            <a:ext cx="3707606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печати пропорции инвертируются для премиального ощущения. В визитках, буклетах и упаковке #5ECEC1 может становиться доминирующим (60%) фоном.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8650" y="3389263"/>
            <a:ext cx="2224497" cy="200025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853147" y="3389263"/>
            <a:ext cx="1112193" cy="200025"/>
          </a:xfrm>
          <a:prstGeom prst="rect">
            <a:avLst/>
          </a:prstGeom>
          <a:solidFill>
            <a:srgbClr val="F5EF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3965339" y="3389263"/>
            <a:ext cx="370694" cy="200025"/>
          </a:xfrm>
          <a:prstGeom prst="rect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28650" y="3632150"/>
            <a:ext cx="1516707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60% — TIFFANY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159645" y="3632150"/>
            <a:ext cx="1431206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30% — BEIGE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605138" y="3632150"/>
            <a:ext cx="731118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6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10% — CHARCOAL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4636294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4807744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Технические коды для типографий</a:t>
            </a:r>
            <a:endParaRPr lang="en-US" sz="844" dirty="0"/>
          </a:p>
        </p:txBody>
      </p:sp>
      <p:sp>
        <p:nvSpPr>
          <p:cNvPr id="44" name="Text 41"/>
          <p:cNvSpPr/>
          <p:nvPr/>
        </p:nvSpPr>
        <p:spPr>
          <a:xfrm>
            <a:off x="4807744" y="3044354"/>
            <a:ext cx="2863215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CMYK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807744" y="3208995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C: 75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4807744" y="3348298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M: 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807744" y="3487601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Y: 40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807744" y="3626904"/>
            <a:ext cx="282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K: 0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725841" y="3044354"/>
            <a:ext cx="1789509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PANTONE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6725841" y="3208995"/>
            <a:ext cx="1789509" cy="1739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Pantone 333 C</a:t>
            </a:r>
            <a:endParaRPr lang="en-US" sz="1238" dirty="0"/>
          </a:p>
        </p:txBody>
      </p:sp>
      <p:sp>
        <p:nvSpPr>
          <p:cNvPr id="51" name="Text 48"/>
          <p:cNvSpPr/>
          <p:nvPr/>
        </p:nvSpPr>
        <p:spPr>
          <a:xfrm>
            <a:off x="6725841" y="3410359"/>
            <a:ext cx="178950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ближайший аналог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729413" y="3635722"/>
            <a:ext cx="192881" cy="192881"/>
          </a:xfrm>
          <a:prstGeom prst="roundRect">
            <a:avLst>
              <a:gd name="adj" fmla="val 29630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983016" y="3671218"/>
            <a:ext cx="1532334" cy="13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#5ECEC1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-714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07 — ТИПОГРАФИКА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Фирменный шрифт.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Сочетание антиквы для заголовков и современного гротеска для интерфейса. Книжное, классическое доверие медицины — при технологичной эстетике.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594679" y="2708932"/>
            <a:ext cx="2472538" cy="1500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b="1" dirty="0">
                <a:solidFill>
                  <a:srgbClr val="5ECEC1">
                    <a:alpha val="5000"/>
                  </a:srgbClr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</a:t>
            </a:r>
            <a:endParaRPr lang="en-US" sz="18000" dirty="0"/>
          </a:p>
        </p:txBody>
      </p:sp>
      <p:sp>
        <p:nvSpPr>
          <p:cNvPr id="9" name="Text 6"/>
          <p:cNvSpPr/>
          <p:nvPr/>
        </p:nvSpPr>
        <p:spPr>
          <a:xfrm>
            <a:off x="671513" y="1708807"/>
            <a:ext cx="3607594" cy="1514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H1 · H2 · H3 — ЗАГОЛОВКИ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71513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Aa</a:t>
            </a:r>
            <a:endParaRPr lang="en-US" sz="6750" dirty="0"/>
          </a:p>
        </p:txBody>
      </p:sp>
      <p:sp>
        <p:nvSpPr>
          <p:cNvPr id="11" name="Text 8"/>
          <p:cNvSpPr/>
          <p:nvPr/>
        </p:nvSpPr>
        <p:spPr>
          <a:xfrm>
            <a:off x="671513" y="2787848"/>
            <a:ext cx="3607594" cy="2068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Playfair Display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71513" y="302214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Bold · SemiBold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1513" y="328032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71513" y="3401764"/>
            <a:ext cx="3717322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Технологии, которые заботятся</a:t>
            </a:r>
            <a:endParaRPr lang="en-US" sz="1238" dirty="0"/>
          </a:p>
        </p:txBody>
      </p:sp>
      <p:sp>
        <p:nvSpPr>
          <p:cNvPr id="15" name="Text 12"/>
          <p:cNvSpPr/>
          <p:nvPr/>
        </p:nvSpPr>
        <p:spPr>
          <a:xfrm>
            <a:off x="671513" y="3647442"/>
            <a:ext cx="36075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Только для крупных заголовков в интерфейсе, презентациях и бланках. Межстрочный интервал — 110%–120% от кегля.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650581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71462" y="2708932"/>
            <a:ext cx="2472538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5ECEC1">
                    <a:alpha val="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</a:t>
            </a:r>
            <a:endParaRPr lang="en-US" sz="18000" dirty="0"/>
          </a:p>
        </p:txBody>
      </p:sp>
      <p:sp>
        <p:nvSpPr>
          <p:cNvPr id="18" name="Text 15"/>
          <p:cNvSpPr/>
          <p:nvPr/>
        </p:nvSpPr>
        <p:spPr>
          <a:xfrm>
            <a:off x="4864894" y="1708807"/>
            <a:ext cx="3717322" cy="151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ОСНОВНОЙ ТЕКСТ · ИНТЕРФЕЙС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64894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</a:t>
            </a:r>
            <a:endParaRPr lang="en-US" sz="6750" dirty="0"/>
          </a:p>
        </p:txBody>
      </p:sp>
      <p:sp>
        <p:nvSpPr>
          <p:cNvPr id="20" name="Text 17"/>
          <p:cNvSpPr/>
          <p:nvPr/>
        </p:nvSpPr>
        <p:spPr>
          <a:xfrm>
            <a:off x="4864894" y="2787848"/>
            <a:ext cx="3607594" cy="189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 / Roboto / SF Pro</a:t>
            </a:r>
            <a:endParaRPr lang="en-US" sz="1238" dirty="0"/>
          </a:p>
        </p:txBody>
      </p:sp>
      <p:sp>
        <p:nvSpPr>
          <p:cNvPr id="21" name="Text 18"/>
          <p:cNvSpPr/>
          <p:nvPr/>
        </p:nvSpPr>
        <p:spPr>
          <a:xfrm>
            <a:off x="4864894" y="300495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Regular · Medium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4894" y="326313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864894" y="3384575"/>
            <a:ext cx="3607594" cy="50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Применяется для всех текстов, таблиц, кнопок и меток. Межстрочный интервал — 140%–150% от кегля — необходим для комфортного чтения большого объёма данных.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864894" y="3934902"/>
            <a:ext cx="538237" cy="287020"/>
          </a:xfrm>
          <a:prstGeom prst="roundRect">
            <a:avLst>
              <a:gd name="adj" fmla="val 19912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64894" y="3947703"/>
            <a:ext cx="538237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Primary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60281" y="3934902"/>
            <a:ext cx="652760" cy="287020"/>
          </a:xfrm>
          <a:prstGeom prst="roundRect">
            <a:avLst>
              <a:gd name="adj" fmla="val 19912"/>
            </a:avLst>
          </a:prstGeom>
          <a:noFill/>
          <a:ln w="7144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60281" y="3947703"/>
            <a:ext cx="65276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Secondary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170191" y="3934902"/>
            <a:ext cx="523949" cy="287020"/>
          </a:xfrm>
          <a:prstGeom prst="roundRect">
            <a:avLst>
              <a:gd name="adj" fmla="val 19912"/>
            </a:avLst>
          </a:prstGeom>
          <a:solidFill>
            <a:srgbClr val="F1F4F6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170191" y="3947703"/>
            <a:ext cx="523949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Tertiary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358063" y="-928687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928687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4143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143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08 — ВИЗУАЛЬНЫЙ ЯЗЫК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Биофилия и тактильность.</a:t>
            </a:r>
            <a:endParaRPr lang="en-US" sz="2138" dirty="0"/>
          </a:p>
        </p:txBody>
      </p:sp>
      <p:sp>
        <p:nvSpPr>
          <p:cNvPr id="8" name="Text 4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Мы отказываемся от стерильной клинической эстетики в пользу живой, природной. Дизайн должен ощущаться физически, даже в цифре.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944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7588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1243013" y="17323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Мягкие 3D-абстракции</a:t>
            </a:r>
            <a:endParaRPr lang="en-US" sz="956" dirty="0"/>
          </a:p>
        </p:txBody>
      </p:sp>
      <p:sp>
        <p:nvSpPr>
          <p:cNvPr id="12" name="Text 8"/>
          <p:cNvSpPr/>
          <p:nvPr/>
        </p:nvSpPr>
        <p:spPr>
          <a:xfrm>
            <a:off x="1243013" y="19066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Плавные, объёмные формы — сферы, перетекающие ленты, капли. Никаких жёстких квадратов и острых углов. Только скругления.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57200" y="25231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363" y="27875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3150" dirty="0"/>
          </a:p>
        </p:txBody>
      </p:sp>
      <p:sp>
        <p:nvSpPr>
          <p:cNvPr id="15" name="Text 11"/>
          <p:cNvSpPr/>
          <p:nvPr/>
        </p:nvSpPr>
        <p:spPr>
          <a:xfrm>
            <a:off x="1243013" y="2761059"/>
            <a:ext cx="3729377" cy="146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Эффект преломления света (Стекло)</a:t>
            </a:r>
            <a:endParaRPr lang="en-US" sz="956" dirty="0"/>
          </a:p>
        </p:txBody>
      </p:sp>
      <p:sp>
        <p:nvSpPr>
          <p:cNvPr id="16" name="Text 12"/>
          <p:cNvSpPr/>
          <p:nvPr/>
        </p:nvSpPr>
        <p:spPr>
          <a:xfrm>
            <a:off x="1243013" y="29353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Полупрозрачные слои, эффект матового стекла — Glassmorphism. Только цвета из палитры, с мягкими градиентными переходами.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57200" y="35518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14363" y="38162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3150" dirty="0"/>
          </a:p>
        </p:txBody>
      </p:sp>
      <p:sp>
        <p:nvSpPr>
          <p:cNvPr id="19" name="Text 15"/>
          <p:cNvSpPr/>
          <p:nvPr/>
        </p:nvSpPr>
        <p:spPr>
          <a:xfrm>
            <a:off x="1243013" y="37897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Обобщение людей</a:t>
            </a:r>
            <a:endParaRPr lang="en-US" sz="956" dirty="0"/>
          </a:p>
        </p:txBody>
      </p:sp>
      <p:sp>
        <p:nvSpPr>
          <p:cNvPr id="20" name="Text 16"/>
          <p:cNvSpPr/>
          <p:nvPr/>
        </p:nvSpPr>
        <p:spPr>
          <a:xfrm>
            <a:off x="1243013" y="39640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Только стилизованные белые или цветовые силуэты. Без портретов. Лицо врача или пациента — табу, чтобы не создавать отчуждения.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986" y="1494495"/>
            <a:ext cx="3509702" cy="295751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80558" y="1498067"/>
            <a:ext cx="3502558" cy="2950369"/>
          </a:xfrm>
          <a:prstGeom prst="roundRect">
            <a:avLst>
              <a:gd name="adj" fmla="val 6457"/>
            </a:avLst>
          </a:prstGeom>
          <a:noFill/>
          <a:ln w="7144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646032" y="2108299"/>
            <a:ext cx="571500" cy="5715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646032" y="2108299"/>
            <a:ext cx="571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93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3938" dirty="0"/>
          </a:p>
        </p:txBody>
      </p:sp>
      <p:sp>
        <p:nvSpPr>
          <p:cNvPr id="25" name="Text 20"/>
          <p:cNvSpPr/>
          <p:nvPr/>
        </p:nvSpPr>
        <p:spPr>
          <a:xfrm>
            <a:off x="5355580" y="2779812"/>
            <a:ext cx="3262243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ИЛЛЮСТРАЦИЯ: БИОФИЛЬНАЯ 3D-АБСТРАКЦИЯ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074532" y="3023704"/>
            <a:ext cx="1714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Сферы и перетекающие ленты в цветах палитры, эффект матового стекла.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469" y="3409466"/>
            <a:ext cx="428625" cy="4286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21041" y="3413038"/>
            <a:ext cx="421481" cy="421481"/>
          </a:xfrm>
          <a:prstGeom prst="roundRect">
            <a:avLst>
              <a:gd name="adj" fmla="val 31638"/>
            </a:avLst>
          </a:prstGeom>
          <a:noFill/>
          <a:ln w="7144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5ECEC1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643813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43813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-714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-714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09 — ПОЛИГРАФИЯ И МАТЕРИАЛЫ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Физические носители и фактуры.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Бумага и печать передают ощущение дорогого природного камня или матового стекла через тактильные ощущения.</a:t>
            </a:r>
            <a:endParaRPr lang="en-US" sz="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3156"/>
            <a:ext cx="3837198" cy="29289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5800" y="1551756"/>
            <a:ext cx="3379998" cy="943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73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МАТЕРИАЛ · ОБРАЗЕЦ</a:t>
            </a:r>
            <a:endParaRPr lang="en-US" sz="8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931" y="1923343"/>
            <a:ext cx="1571625" cy="157162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93503" y="1926915"/>
            <a:ext cx="1564481" cy="1564481"/>
          </a:xfrm>
          <a:prstGeom prst="roundRect">
            <a:avLst>
              <a:gd name="adj" fmla="val 10959"/>
            </a:avLst>
          </a:prstGeom>
          <a:solidFill>
            <a:srgbClr val="E8DFD0"/>
          </a:solidFill>
          <a:ln w="7144">
            <a:solidFill>
              <a:srgbClr val="8B735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7"/>
          <p:cNvSpPr/>
          <p:nvPr/>
        </p:nvSpPr>
        <p:spPr>
          <a:xfrm>
            <a:off x="2197150" y="2321272"/>
            <a:ext cx="357188" cy="357188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2230725" y="2354848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15" name="Text 9"/>
          <p:cNvSpPr/>
          <p:nvPr/>
        </p:nvSpPr>
        <p:spPr>
          <a:xfrm>
            <a:off x="2145452" y="2764185"/>
            <a:ext cx="571409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5C4A33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300 г/м²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892089" y="2964210"/>
            <a:ext cx="1064039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spc="14" kern="0" dirty="0">
                <a:solidFill>
                  <a:srgbClr val="8B73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Splendorlux Felt / Velvet</a:t>
            </a:r>
            <a:endParaRPr lang="en-US" sz="675" dirty="0"/>
          </a:p>
        </p:txBody>
      </p:sp>
      <p:sp>
        <p:nvSpPr>
          <p:cNvPr id="17" name="Text 11"/>
          <p:cNvSpPr/>
          <p:nvPr/>
        </p:nvSpPr>
        <p:spPr>
          <a:xfrm>
            <a:off x="685800" y="3744888"/>
            <a:ext cx="337999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C4A3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Матовая дизайнерская бумага, плотность 300 г/м², бархатистая шероховатая поверхность.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465848" y="13231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3"/>
          <p:cNvSpPr/>
          <p:nvPr/>
        </p:nvSpPr>
        <p:spPr>
          <a:xfrm>
            <a:off x="4623011" y="15874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4688376" y="16528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1" name="Text 15"/>
          <p:cNvSpPr/>
          <p:nvPr/>
        </p:nvSpPr>
        <p:spPr>
          <a:xfrm>
            <a:off x="5151648" y="15653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Матовая офсетная печать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151648" y="17310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Преобладающий способ печати для всех носителей. Мягкое, небликующее покрытие.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4465848" y="23518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4623011" y="26161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688376" y="26815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6" name="Text 20"/>
          <p:cNvSpPr/>
          <p:nvPr/>
        </p:nvSpPr>
        <p:spPr>
          <a:xfrm>
            <a:off x="5151648" y="25940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Выборочный УФ-лак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151648" y="27597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Логотип на визитке покрывается глянцевым УФ-лаком — контраст с матовой бумагой.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465848" y="33805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623011" y="36448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88376" y="37102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31" name="Text 25"/>
          <p:cNvSpPr/>
          <p:nvPr/>
        </p:nvSpPr>
        <p:spPr>
          <a:xfrm>
            <a:off x="5151648" y="36227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Блинтовое тиснение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151648" y="37884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 конвертах и премиальных папках — бесцветное тиснение логотипа, создающее физический рельеф.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86688" y="-785812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86688" y="-785812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571500" y="4071938"/>
            <a:ext cx="1857375" cy="185737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071938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10 — ДЕЛОВАЯ ДОКУМЕНТАЦИЯ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Бланки, визитки и идентификация.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Строгие требования к печатной продукции. Высокая контрастность, чистая типографика, точечное использование фирменного цвета.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78087"/>
            <a:ext cx="298965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635249"/>
            <a:ext cx="267533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БЛАНК · А4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14363" y="2031839"/>
            <a:ext cx="2675334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3350" dist="381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728663" y="2146139"/>
            <a:ext cx="157163" cy="157163"/>
          </a:xfrm>
          <a:prstGeom prst="ellipse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734735" y="2152211"/>
            <a:ext cx="145018" cy="145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14" name="Text 10"/>
          <p:cNvSpPr/>
          <p:nvPr/>
        </p:nvSpPr>
        <p:spPr>
          <a:xfrm>
            <a:off x="942975" y="2158305"/>
            <a:ext cx="223242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7" kern="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Альтера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728663" y="2374739"/>
            <a:ext cx="2446734" cy="14288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28663" y="2489039"/>
            <a:ext cx="1957388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28663" y="2589051"/>
            <a:ext cx="2202061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8663" y="2689064"/>
            <a:ext cx="171271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8663" y="2789076"/>
            <a:ext cx="207972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14363" y="3992687"/>
            <a:ext cx="267533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Белая бумага #FFFFFF. Тонкая линия #5ECEC1 в шапке. Логотип — чёрный/тёмно-серый. Текст — только Sans-serif (Inter).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357544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3732609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ВИЗИТКА · 85×55 ММ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078188" y="2596195"/>
            <a:ext cx="714375" cy="457200"/>
          </a:xfrm>
          <a:prstGeom prst="roundRect">
            <a:avLst>
              <a:gd name="adj" fmla="val 12500"/>
            </a:avLst>
          </a:prstGeom>
          <a:solidFill>
            <a:srgbClr val="5ECEC1"/>
          </a:solidFill>
          <a:ln/>
          <a:effectLst>
            <a:outerShdw sx="100000" sy="100000" kx="0" ky="0" algn="bl" rotWithShape="0" blurRad="95250" dist="38100" dir="5400000">
              <a:srgbClr val="5ECEC1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4290358" y="2679777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25" name="Text 21"/>
          <p:cNvSpPr/>
          <p:nvPr/>
        </p:nvSpPr>
        <p:spPr>
          <a:xfrm>
            <a:off x="4853285" y="2599767"/>
            <a:ext cx="707231" cy="450056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902588" y="2699779"/>
            <a:ext cx="60862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18" kern="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914007" y="2802582"/>
            <a:ext cx="58578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Главный врач</a:t>
            </a:r>
            <a:endParaRPr lang="en-US" sz="600" dirty="0"/>
          </a:p>
        </p:txBody>
      </p:sp>
      <p:sp>
        <p:nvSpPr>
          <p:cNvPr id="28" name="Text 24"/>
          <p:cNvSpPr/>
          <p:nvPr/>
        </p:nvSpPr>
        <p:spPr>
          <a:xfrm>
            <a:off x="4914007" y="2883284"/>
            <a:ext cx="585788" cy="105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+7 999 123-45-67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3732609" y="3864099"/>
            <a:ext cx="217705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 одной стороны — логотип на фирменном фоне. С другой — контактные данные. Имя и должность — Playfair Display, контакты — Inter.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619541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352580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БЕЙДЖ · КАРТОЧКА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6980337" y="2442604"/>
            <a:ext cx="921544" cy="635794"/>
          </a:xfrm>
          <a:prstGeom prst="roundRect">
            <a:avLst>
              <a:gd name="adj" fmla="val 11985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7376815" y="2517614"/>
            <a:ext cx="128588" cy="79363"/>
          </a:xfrm>
          <a:prstGeom prst="roundRect">
            <a:avLst>
              <a:gd name="adj" fmla="val 1152174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7401427" y="251761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121091" y="2625551"/>
            <a:ext cx="705780" cy="155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b="1" spc="50" kern="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98234" y="2775905"/>
            <a:ext cx="285750" cy="43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7167179" y="2808833"/>
            <a:ext cx="66257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ГЛАВНЫЙ ВРАЧ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7222108" y="2925924"/>
            <a:ext cx="52627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10"/>
              </a:lnSpc>
              <a:buNone/>
            </a:pPr>
            <a:r>
              <a:rPr lang="en-US" sz="600" spc="24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ОТДЕЛЕНИЕ №3</a:t>
            </a:r>
            <a:endParaRPr lang="en-US" sz="600" dirty="0"/>
          </a:p>
        </p:txBody>
      </p:sp>
      <p:sp>
        <p:nvSpPr>
          <p:cNvPr id="39" name="Text 35"/>
          <p:cNvSpPr/>
          <p:nvPr/>
        </p:nvSpPr>
        <p:spPr>
          <a:xfrm>
            <a:off x="6352580" y="3735512"/>
            <a:ext cx="217705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Высокая контрастность — белый фон и чёткий чёрный текст. Логотип #5ECEC1 в малом размере строго обязателен. Для ярких операционных — версия с белым фоном.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257175" y="200025"/>
            <a:ext cx="125777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858125" y="-571500"/>
            <a:ext cx="1857375" cy="18573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11 — UI KIT · КНОПКИ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Кнопки и состояния.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Единый стандарт для всех кнопок системы. Скругление углов (border-radius) — 6–8 пикселей. Чётко прописаны Hover, Active, Disabled.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18717" y="1578992"/>
            <a:ext cx="778679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PRIMARY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238463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208115" y="1578992"/>
            <a:ext cx="104191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SECONDARY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19726" y="1456097"/>
            <a:ext cx="2667074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104794" y="1578992"/>
            <a:ext cx="71139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DANGER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57200" y="2999147"/>
            <a:ext cx="4733851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28650" y="3142022"/>
            <a:ext cx="4390951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СОСТОЯНИЯ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8650" y="3370676"/>
            <a:ext cx="427174" cy="224028"/>
          </a:xfrm>
          <a:prstGeom prst="roundRect">
            <a:avLst>
              <a:gd name="adj" fmla="val 25510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28650" y="3382677"/>
            <a:ext cx="42717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Hover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7261" y="3370676"/>
            <a:ext cx="436662" cy="224028"/>
          </a:xfrm>
          <a:prstGeom prst="roundRect">
            <a:avLst>
              <a:gd name="adj" fmla="val 25510"/>
            </a:avLst>
          </a:prstGeom>
          <a:solidFill>
            <a:srgbClr val="46B0A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127261" y="3382677"/>
            <a:ext cx="436662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635361" y="3370676"/>
            <a:ext cx="543930" cy="224028"/>
          </a:xfrm>
          <a:prstGeom prst="roundRect">
            <a:avLst>
              <a:gd name="adj" fmla="val 25510"/>
            </a:avLst>
          </a:prstGeom>
          <a:solidFill>
            <a:srgbClr val="F1F4F6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635361" y="3382677"/>
            <a:ext cx="54393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8B95A7">
                    <a:alpha val="6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Disabled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50728" y="3370676"/>
            <a:ext cx="444922" cy="224028"/>
          </a:xfrm>
          <a:prstGeom prst="roundRect">
            <a:avLst>
              <a:gd name="adj" fmla="val 25510"/>
            </a:avLst>
          </a:prstGeom>
          <a:solidFill>
            <a:srgbClr val="FFFFFF"/>
          </a:solidFill>
          <a:ln w="14288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250728" y="3382677"/>
            <a:ext cx="444922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Focus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28650" y="3682715"/>
            <a:ext cx="4390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Disabled — прозрачность 50%, отсутствие реакции на клик. Focus — двойная обводка цвета #5ECEC1 для доступности с клавиатуры.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05351" y="2999147"/>
            <a:ext cx="3381338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76801" y="3142022"/>
            <a:ext cx="3038438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ТЕНИ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76801" y="3356817"/>
            <a:ext cx="396143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76801" y="3368390"/>
            <a:ext cx="39614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Light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958669" y="3356817"/>
            <a:ext cx="386544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01600" dist="50800" dir="16200000">
              <a:srgbClr val="5ECEC1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958669" y="3368390"/>
            <a:ext cx="386544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Dark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476801" y="3646996"/>
            <a:ext cx="30384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Светлая — мягкие тени 0px 4px 12px rgba(0,0,0,0.05). Тёмная — плотные чёрные тени или отсутствие теней с усилением эффекта освещения кнопки.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47884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7429500" y="-714375"/>
            <a:ext cx="2428875" cy="24288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500" y="-714375"/>
            <a:ext cx="2428875" cy="24288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tmp/h2p-svg-1786013072856-4hw4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20131"/>
            <a:ext cx="4374319" cy="15699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C9A96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12 — UI KIT · ДАННЫЕ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457200" y="615367"/>
            <a:ext cx="8636000" cy="293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2"/>
              </a:lnSpc>
              <a:buNone/>
            </a:pPr>
            <a:r>
              <a:rPr lang="en-US" sz="1913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Визуализация медицинских данных.</a:t>
            </a:r>
            <a:endParaRPr lang="en-US" sz="1913" dirty="0"/>
          </a:p>
        </p:txBody>
      </p:sp>
      <p:sp>
        <p:nvSpPr>
          <p:cNvPr id="7" name="Text 3"/>
          <p:cNvSpPr/>
          <p:nvPr/>
        </p:nvSpPr>
        <p:spPr>
          <a:xfrm>
            <a:off x="457200" y="95882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B5BEC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 МИС очень много цифр. Они должны быть строгими, без кислотных цветов. Графики — с лёгким эффектом фосфоресценции в тёмной теме.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57200" y="1440135"/>
            <a:ext cx="4717219" cy="2928938"/>
          </a:xfrm>
          <a:prstGeom prst="roundRect">
            <a:avLst>
              <a:gd name="adj" fmla="val 7805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28650" y="1611585"/>
            <a:ext cx="4484047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B5BEC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ДИНАМИКА ПОСТУПЛЕНИЙ · 30 ДНЕЙ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628650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28650" y="1826902"/>
            <a:ext cx="75286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399617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386B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1399617" y="1826902"/>
            <a:ext cx="58907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988418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988418" y="1826902"/>
            <a:ext cx="882250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2869778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C9A9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869778" y="1826902"/>
            <a:ext cx="2133191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Премиум-показатель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048694"/>
            <a:ext cx="4374319" cy="17128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8650" y="3890107"/>
            <a:ext cx="867787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1 248</a:t>
            </a:r>
            <a:endParaRPr lang="en-US" sz="1238" dirty="0"/>
          </a:p>
        </p:txBody>
      </p:sp>
      <p:sp>
        <p:nvSpPr>
          <p:cNvPr id="20" name="Text 15"/>
          <p:cNvSpPr/>
          <p:nvPr/>
        </p:nvSpPr>
        <p:spPr>
          <a:xfrm>
            <a:off x="628650" y="4075844"/>
            <a:ext cx="635654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342467" y="3890107"/>
            <a:ext cx="78742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1 102</a:t>
            </a:r>
            <a:endParaRPr lang="en-US" sz="1238" dirty="0"/>
          </a:p>
        </p:txBody>
      </p:sp>
      <p:sp>
        <p:nvSpPr>
          <p:cNvPr id="22" name="Text 17"/>
          <p:cNvSpPr/>
          <p:nvPr/>
        </p:nvSpPr>
        <p:spPr>
          <a:xfrm>
            <a:off x="1342467" y="4075844"/>
            <a:ext cx="629936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2006054" y="3890107"/>
            <a:ext cx="1044416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987</a:t>
            </a:r>
            <a:endParaRPr lang="en-US" sz="1238" dirty="0"/>
          </a:p>
        </p:txBody>
      </p:sp>
      <p:sp>
        <p:nvSpPr>
          <p:cNvPr id="24" name="Text 19"/>
          <p:cNvSpPr/>
          <p:nvPr/>
        </p:nvSpPr>
        <p:spPr>
          <a:xfrm>
            <a:off x="2006054" y="4075844"/>
            <a:ext cx="765035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2830264" y="3890107"/>
            <a:ext cx="1060847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94%</a:t>
            </a:r>
            <a:endParaRPr lang="en-US" sz="1238" dirty="0"/>
          </a:p>
        </p:txBody>
      </p:sp>
      <p:sp>
        <p:nvSpPr>
          <p:cNvPr id="26" name="Text 21"/>
          <p:cNvSpPr/>
          <p:nvPr/>
        </p:nvSpPr>
        <p:spPr>
          <a:xfrm>
            <a:off x="2830264" y="4075844"/>
            <a:ext cx="777070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Эффективность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317294" y="1440135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474457" y="1597298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Правила для графиков</a:t>
            </a:r>
            <a:endParaRPr lang="en-US" sz="844" dirty="0"/>
          </a:p>
        </p:txBody>
      </p:sp>
      <p:sp>
        <p:nvSpPr>
          <p:cNvPr id="29" name="Text 24"/>
          <p:cNvSpPr/>
          <p:nvPr/>
        </p:nvSpPr>
        <p:spPr>
          <a:xfrm>
            <a:off x="5474457" y="1884834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5588757" y="1834828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Толщина линии — не более 2 пикселей.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474457" y="2073362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5588757" y="2023356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Цвета — только из палитры: Tiffany, Info, Success, Gold.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474457" y="2261890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5588757" y="2211884"/>
            <a:ext cx="2940769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Свечение в тёмной теме — микроподсветка снизу для читаемости.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5474457" y="2596083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>
            <a:off x="5588757" y="2546077"/>
            <a:ext cx="2940769" cy="144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Никаких кислотных и нестандартных оттенков.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317294" y="2961754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474457" y="3118917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Иконки (Line Art)</a:t>
            </a:r>
            <a:endParaRPr lang="en-US" sz="844" dirty="0"/>
          </a:p>
        </p:txBody>
      </p:sp>
      <p:sp>
        <p:nvSpPr>
          <p:cNvPr id="39" name="Text 34"/>
          <p:cNvSpPr/>
          <p:nvPr/>
        </p:nvSpPr>
        <p:spPr>
          <a:xfrm>
            <a:off x="5478028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55319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♡</a:t>
            </a:r>
            <a:endParaRPr lang="en-US" sz="1547" dirty="0"/>
          </a:p>
        </p:txBody>
      </p:sp>
      <p:sp>
        <p:nvSpPr>
          <p:cNvPr id="41" name="Text 36"/>
          <p:cNvSpPr/>
          <p:nvPr/>
        </p:nvSpPr>
        <p:spPr>
          <a:xfrm>
            <a:off x="6520123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7"/>
          <p:cNvSpPr/>
          <p:nvPr/>
        </p:nvSpPr>
        <p:spPr>
          <a:xfrm>
            <a:off x="6574058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43" name="Text 38"/>
          <p:cNvSpPr/>
          <p:nvPr/>
        </p:nvSpPr>
        <p:spPr>
          <a:xfrm>
            <a:off x="7562329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76162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547" dirty="0"/>
          </a:p>
        </p:txBody>
      </p:sp>
      <p:sp>
        <p:nvSpPr>
          <p:cNvPr id="45" name="Text 40"/>
          <p:cNvSpPr/>
          <p:nvPr/>
        </p:nvSpPr>
        <p:spPr>
          <a:xfrm>
            <a:off x="5478028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1"/>
          <p:cNvSpPr/>
          <p:nvPr/>
        </p:nvSpPr>
        <p:spPr>
          <a:xfrm>
            <a:off x="55319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7" name="Text 42"/>
          <p:cNvSpPr/>
          <p:nvPr/>
        </p:nvSpPr>
        <p:spPr>
          <a:xfrm>
            <a:off x="6520123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3"/>
          <p:cNvSpPr/>
          <p:nvPr/>
        </p:nvSpPr>
        <p:spPr>
          <a:xfrm>
            <a:off x="6574058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9" name="Text 44"/>
          <p:cNvSpPr/>
          <p:nvPr/>
        </p:nvSpPr>
        <p:spPr>
          <a:xfrm>
            <a:off x="7562329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5"/>
          <p:cNvSpPr/>
          <p:nvPr/>
        </p:nvSpPr>
        <p:spPr>
          <a:xfrm>
            <a:off x="76162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✚</a:t>
            </a:r>
            <a:endParaRPr lang="en-US" sz="1547" dirty="0"/>
          </a:p>
        </p:txBody>
      </p:sp>
      <p:sp>
        <p:nvSpPr>
          <p:cNvPr id="51" name="Text 46"/>
          <p:cNvSpPr/>
          <p:nvPr/>
        </p:nvSpPr>
        <p:spPr>
          <a:xfrm>
            <a:off x="5474457" y="4199409"/>
            <a:ext cx="305506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Толщина штриха 1.5–2px. Скруглённые концы и стыки (Round caps). Полное отсутствие острых углов в микро-графике.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257175" y="200025"/>
            <a:ext cx="247884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9CA9B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9CA9B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714375" y="3571875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571875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— TONE OF VOICE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Голос бренда и Tone of Voice.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Общение с врачом на равных. Уважение к профессионализму, без излишней формальности и бюрократизма.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5788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008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✻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585788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 Вы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788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Только уважительное обращение. Без панибратства.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539603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68191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732484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2668191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На равных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68191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 даём инструкции — просим помощи. Коллеги, а не пользователи.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622006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750594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14888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0594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Простота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0594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Без сложных аббревиатур. Одно предложение — одна мысль.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704409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32997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89729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6832997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Без паники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832997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Не пишем «Ошибка!». Пишем «Что-то пошло не так. Проверьте соединение.»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57200" y="2401305"/>
            <a:ext cx="8229600" cy="1571625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4375" y="2515605"/>
            <a:ext cx="394335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4500" b="1" dirty="0">
                <a:solidFill>
                  <a:srgbClr val="5ECEC1">
                    <a:alpha val="40000"/>
                  </a:srgbClr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«</a:t>
            </a:r>
            <a:endParaRPr lang="en-US" sz="4500" dirty="0"/>
          </a:p>
        </p:txBody>
      </p:sp>
      <p:sp>
        <p:nvSpPr>
          <p:cNvPr id="29" name="Text 26"/>
          <p:cNvSpPr/>
          <p:nvPr/>
        </p:nvSpPr>
        <p:spPr>
          <a:xfrm>
            <a:off x="714375" y="2629905"/>
            <a:ext cx="6286500" cy="646393"/>
          </a:xfrm>
          <a:prstGeom prst="rect">
            <a:avLst/>
          </a:prstGeom>
          <a:noFill/>
          <a:ln/>
        </p:spPr>
        <p:txBody>
          <a:bodyPr wrap="square" lIns="428625" tIns="142875" rIns="285750" bIns="0" rtlCol="0" anchor="t"/>
          <a:lstStyle/>
          <a:p>
            <a:pPr algn="l" indent="0" marL="0">
              <a:lnSpc>
                <a:spcPts val="1794"/>
              </a:lnSpc>
              <a:buNone/>
            </a:pPr>
            <a:r>
              <a:rPr lang="en-US" sz="1238" i="1" dirty="0">
                <a:solidFill>
                  <a:srgbClr val="1A1F2E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Коллеги, нам очень нужна ваша помощь. Мы создаём новую систему взамен устаревшей — понятную, логичную и действительно помогающую в работе.</a:t>
            </a:r>
            <a:endParaRPr lang="en-US" sz="1238" dirty="0"/>
          </a:p>
        </p:txBody>
      </p:sp>
      <p:sp>
        <p:nvSpPr>
          <p:cNvPr id="30" name="Text 27"/>
          <p:cNvSpPr/>
          <p:nvPr/>
        </p:nvSpPr>
        <p:spPr>
          <a:xfrm>
            <a:off x="6566557" y="3657600"/>
            <a:ext cx="19727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Пример тональности в интерфейсе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47884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08095" y="4799595"/>
            <a:ext cx="54276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6013073155-4i6n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897250" y="571500"/>
            <a:ext cx="1878503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14 — ЗАКЛЮЧЕНИЕ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075509" y="879351"/>
            <a:ext cx="992981" cy="99298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199096" y="1002938"/>
            <a:ext cx="745807" cy="74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274320" y="2075929"/>
            <a:ext cx="8595360" cy="543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Спасибо за внимание!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286250" y="2750232"/>
            <a:ext cx="5715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2071688" y="2928826"/>
            <a:ext cx="5000625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5EFE6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По всем вопросам о брендинге и соблюдению правил обращайтесь в отдел маркетинга и дизайна.</a:t>
            </a:r>
            <a:endParaRPr lang="en-US" sz="1013" dirty="0"/>
          </a:p>
        </p:txBody>
      </p:sp>
      <p:sp>
        <p:nvSpPr>
          <p:cNvPr id="10" name="Text 6"/>
          <p:cNvSpPr/>
          <p:nvPr/>
        </p:nvSpPr>
        <p:spPr>
          <a:xfrm>
            <a:off x="3660391" y="3657488"/>
            <a:ext cx="510064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EMAIL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302422" y="3811079"/>
            <a:ext cx="1212701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brand@altera-mis.ru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045050" y="3657488"/>
            <a:ext cx="734504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INTRANET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765774" y="3811079"/>
            <a:ext cx="118326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788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design.altera-internal</a:t>
            </a:r>
            <a:endParaRPr lang="en-US" sz="788" dirty="0"/>
          </a:p>
        </p:txBody>
      </p:sp>
      <p:sp>
        <p:nvSpPr>
          <p:cNvPr id="14" name="Text 10"/>
          <p:cNvSpPr/>
          <p:nvPr/>
        </p:nvSpPr>
        <p:spPr>
          <a:xfrm>
            <a:off x="0" y="4821696"/>
            <a:ext cx="8636000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F5EFE6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МИС АЛЬТЕРА · БРЕНД-БУК · 2025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2026-08-06T10:44:33Z</dcterms:created>
  <dcterms:modified xsi:type="dcterms:W3CDTF">2026-08-06T10:44:33Z</dcterms:modified>
</cp:coreProperties>
</file>